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handoutMasterIdLst>
    <p:handoutMasterId r:id="rId23"/>
  </p:handoutMasterIdLst>
  <p:sldIdLst>
    <p:sldId id="256" r:id="rId2"/>
    <p:sldId id="317" r:id="rId3"/>
    <p:sldId id="257" r:id="rId4"/>
    <p:sldId id="304" r:id="rId5"/>
    <p:sldId id="345" r:id="rId6"/>
    <p:sldId id="375" r:id="rId7"/>
    <p:sldId id="376" r:id="rId8"/>
    <p:sldId id="377" r:id="rId9"/>
    <p:sldId id="378" r:id="rId10"/>
    <p:sldId id="379" r:id="rId11"/>
    <p:sldId id="318" r:id="rId12"/>
    <p:sldId id="372" r:id="rId13"/>
    <p:sldId id="319" r:id="rId14"/>
    <p:sldId id="373" r:id="rId15"/>
    <p:sldId id="374" r:id="rId16"/>
    <p:sldId id="259" r:id="rId17"/>
    <p:sldId id="334" r:id="rId18"/>
    <p:sldId id="263" r:id="rId19"/>
    <p:sldId id="358" r:id="rId20"/>
    <p:sldId id="359" r:id="rId21"/>
  </p:sldIdLst>
  <p:sldSz cx="17999075" cy="10080625"/>
  <p:notesSz cx="6858000" cy="9144000"/>
  <p:defaultTextStyle>
    <a:defPPr>
      <a:defRPr lang="en-US"/>
    </a:defPPr>
    <a:lvl1pPr marL="0" algn="l" defTabSz="1797050" rtl="0" eaLnBrk="1" latinLnBrk="0" hangingPunct="1">
      <a:defRPr sz="3500" kern="1200">
        <a:solidFill>
          <a:schemeClr val="tx1"/>
        </a:solidFill>
        <a:latin typeface="+mn-lt"/>
        <a:ea typeface="+mn-ea"/>
        <a:cs typeface="+mn-cs"/>
      </a:defRPr>
    </a:lvl1pPr>
    <a:lvl2pPr marL="898525" algn="l" defTabSz="1797050" rtl="0" eaLnBrk="1" latinLnBrk="0" hangingPunct="1">
      <a:defRPr sz="3500" kern="1200">
        <a:solidFill>
          <a:schemeClr val="tx1"/>
        </a:solidFill>
        <a:latin typeface="+mn-lt"/>
        <a:ea typeface="+mn-ea"/>
        <a:cs typeface="+mn-cs"/>
      </a:defRPr>
    </a:lvl2pPr>
    <a:lvl3pPr marL="1797050" algn="l" defTabSz="1797050" rtl="0" eaLnBrk="1" latinLnBrk="0" hangingPunct="1">
      <a:defRPr sz="3500" kern="1200">
        <a:solidFill>
          <a:schemeClr val="tx1"/>
        </a:solidFill>
        <a:latin typeface="+mn-lt"/>
        <a:ea typeface="+mn-ea"/>
        <a:cs typeface="+mn-cs"/>
      </a:defRPr>
    </a:lvl3pPr>
    <a:lvl4pPr marL="2695575" algn="l" defTabSz="1797050" rtl="0" eaLnBrk="1" latinLnBrk="0" hangingPunct="1">
      <a:defRPr sz="3500" kern="1200">
        <a:solidFill>
          <a:schemeClr val="tx1"/>
        </a:solidFill>
        <a:latin typeface="+mn-lt"/>
        <a:ea typeface="+mn-ea"/>
        <a:cs typeface="+mn-cs"/>
      </a:defRPr>
    </a:lvl4pPr>
    <a:lvl5pPr marL="3594100" algn="l" defTabSz="1797050" rtl="0" eaLnBrk="1" latinLnBrk="0" hangingPunct="1">
      <a:defRPr sz="3500" kern="1200">
        <a:solidFill>
          <a:schemeClr val="tx1"/>
        </a:solidFill>
        <a:latin typeface="+mn-lt"/>
        <a:ea typeface="+mn-ea"/>
        <a:cs typeface="+mn-cs"/>
      </a:defRPr>
    </a:lvl5pPr>
    <a:lvl6pPr marL="4492625" algn="l" defTabSz="1797050" rtl="0" eaLnBrk="1" latinLnBrk="0" hangingPunct="1">
      <a:defRPr sz="3500" kern="1200">
        <a:solidFill>
          <a:schemeClr val="tx1"/>
        </a:solidFill>
        <a:latin typeface="+mn-lt"/>
        <a:ea typeface="+mn-ea"/>
        <a:cs typeface="+mn-cs"/>
      </a:defRPr>
    </a:lvl6pPr>
    <a:lvl7pPr marL="5391150" algn="l" defTabSz="1797050" rtl="0" eaLnBrk="1" latinLnBrk="0" hangingPunct="1">
      <a:defRPr sz="3500" kern="1200">
        <a:solidFill>
          <a:schemeClr val="tx1"/>
        </a:solidFill>
        <a:latin typeface="+mn-lt"/>
        <a:ea typeface="+mn-ea"/>
        <a:cs typeface="+mn-cs"/>
      </a:defRPr>
    </a:lvl7pPr>
    <a:lvl8pPr marL="6289675" algn="l" defTabSz="1797050" rtl="0" eaLnBrk="1" latinLnBrk="0" hangingPunct="1">
      <a:defRPr sz="3500" kern="1200">
        <a:solidFill>
          <a:schemeClr val="tx1"/>
        </a:solidFill>
        <a:latin typeface="+mn-lt"/>
        <a:ea typeface="+mn-ea"/>
        <a:cs typeface="+mn-cs"/>
      </a:defRPr>
    </a:lvl8pPr>
    <a:lvl9pPr marL="7188200" algn="l" defTabSz="1797050" rtl="0" eaLnBrk="1" latinLnBrk="0" hangingPunct="1">
      <a:defRPr sz="35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76" userDrawn="1">
          <p15:clr>
            <a:srgbClr val="A4A3A4"/>
          </p15:clr>
        </p15:guide>
        <p15:guide id="2" pos="566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p:scale>
          <a:sx n="50" d="100"/>
          <a:sy n="50" d="100"/>
        </p:scale>
        <p:origin x="994" y="427"/>
      </p:cViewPr>
      <p:guideLst>
        <p:guide orient="horz" pos="3176"/>
        <p:guide pos="5669"/>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handoutMaster" Target="handoutMasters/handout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 Id="rId28"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thod Ankush" userId="5198f9b746938b17" providerId="LiveId" clId="{52321D20-FCE3-450B-8DB3-E1FF7A746DA2}"/>
    <pc:docChg chg="undo redo custSel addSld delSld modSld">
      <pc:chgData name="Rathod Ankush" userId="5198f9b746938b17" providerId="LiveId" clId="{52321D20-FCE3-450B-8DB3-E1FF7A746DA2}" dt="2025-12-18T10:58:41.356" v="38" actId="12"/>
      <pc:docMkLst>
        <pc:docMk/>
      </pc:docMkLst>
      <pc:sldChg chg="modSp mod">
        <pc:chgData name="Rathod Ankush" userId="5198f9b746938b17" providerId="LiveId" clId="{52321D20-FCE3-450B-8DB3-E1FF7A746DA2}" dt="2025-12-18T10:58:41.356" v="38" actId="12"/>
        <pc:sldMkLst>
          <pc:docMk/>
          <pc:sldMk cId="0" sldId="358"/>
        </pc:sldMkLst>
        <pc:spChg chg="mod">
          <ac:chgData name="Rathod Ankush" userId="5198f9b746938b17" providerId="LiveId" clId="{52321D20-FCE3-450B-8DB3-E1FF7A746DA2}" dt="2025-12-18T10:58:41.356" v="38" actId="12"/>
          <ac:spMkLst>
            <pc:docMk/>
            <pc:sldMk cId="0" sldId="358"/>
            <ac:spMk id="3"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FigureOut">
              <a:rPr lang="en-US" smtClean="0"/>
              <a:pPr/>
              <a:t>12/18/2025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pPr/>
              <a:t>12/18/2025</a:t>
            </a:fld>
            <a:endParaRPr lang="en-US"/>
          </a:p>
        </p:txBody>
      </p:sp>
      <p:sp>
        <p:nvSpPr>
          <p:cNvPr id="4" name="Slide Image Placeholder 3"/>
          <p:cNvSpPr>
            <a:spLocks noGrp="1" noRot="1" noChangeAspect="1"/>
          </p:cNvSpPr>
          <p:nvPr>
            <p:ph type="sldImg" idx="2"/>
          </p:nvPr>
        </p:nvSpPr>
        <p:spPr>
          <a:xfrm>
            <a:off x="673554" y="1143000"/>
            <a:ext cx="5510893"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bwMode="white">
          <a:xfrm>
            <a:off x="0" y="8776331"/>
            <a:ext cx="18000290" cy="130368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179707" tIns="89854" rIns="179707" bIns="89854" anchor="ctr"/>
          <a:lstStyle/>
          <a:p>
            <a:pPr algn="ctr" eaLnBrk="1" latinLnBrk="0" hangingPunct="1"/>
            <a:endParaRPr kumimoji="0" lang="en-US"/>
          </a:p>
        </p:txBody>
      </p:sp>
      <p:sp>
        <p:nvSpPr>
          <p:cNvPr id="10" name="Rectangle 9"/>
          <p:cNvSpPr/>
          <p:nvPr/>
        </p:nvSpPr>
        <p:spPr>
          <a:xfrm>
            <a:off x="-18001" y="8897290"/>
            <a:ext cx="4428072" cy="1048321"/>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179707" tIns="89854" rIns="179707" bIns="89854" anchor="ctr"/>
          <a:lstStyle/>
          <a:p>
            <a:pPr algn="ctr" eaLnBrk="1" latinLnBrk="0" hangingPunct="1"/>
            <a:endParaRPr kumimoji="0" lang="en-US"/>
          </a:p>
        </p:txBody>
      </p:sp>
      <p:sp>
        <p:nvSpPr>
          <p:cNvPr id="11" name="Rectangle 10"/>
          <p:cNvSpPr/>
          <p:nvPr/>
        </p:nvSpPr>
        <p:spPr>
          <a:xfrm>
            <a:off x="4643830" y="8883659"/>
            <a:ext cx="9254004" cy="1048386"/>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179707" tIns="89854" rIns="179707" bIns="89854" anchor="ctr"/>
          <a:lstStyle/>
          <a:p>
            <a:pPr algn="ctr" eaLnBrk="1" latinLnBrk="0" hangingPunct="1"/>
            <a:endParaRPr kumimoji="0" lang="en-US"/>
          </a:p>
        </p:txBody>
      </p:sp>
      <p:sp>
        <p:nvSpPr>
          <p:cNvPr id="8" name="Title 7"/>
          <p:cNvSpPr>
            <a:spLocks noGrp="1"/>
          </p:cNvSpPr>
          <p:nvPr>
            <p:ph type="ctrTitle"/>
          </p:nvPr>
        </p:nvSpPr>
        <p:spPr>
          <a:xfrm>
            <a:off x="4650075" y="5936007"/>
            <a:ext cx="12750206" cy="2688002"/>
          </a:xfrm>
        </p:spPr>
        <p:txBody>
          <a:bodyPr anchor="b"/>
          <a:lstStyle>
            <a:lvl1pPr>
              <a:defRPr cap="all" baseline="0"/>
            </a:lvl1pPr>
          </a:lstStyle>
          <a:p>
            <a:r>
              <a:rPr kumimoji="0" lang="en-US"/>
              <a:t>Click to edit Master title style</a:t>
            </a:r>
          </a:p>
        </p:txBody>
      </p:sp>
      <p:sp>
        <p:nvSpPr>
          <p:cNvPr id="28" name="Date Placeholder 27"/>
          <p:cNvSpPr>
            <a:spLocks noGrp="1"/>
          </p:cNvSpPr>
          <p:nvPr>
            <p:ph type="dt" sz="half" idx="10"/>
          </p:nvPr>
        </p:nvSpPr>
        <p:spPr>
          <a:xfrm>
            <a:off x="150002" y="8919882"/>
            <a:ext cx="4050065" cy="1008001"/>
          </a:xfrm>
        </p:spPr>
        <p:txBody>
          <a:bodyPr>
            <a:noAutofit/>
          </a:bodyPr>
          <a:lstStyle>
            <a:lvl1pPr algn="ctr">
              <a:defRPr sz="3900">
                <a:solidFill>
                  <a:srgbClr val="FFFFFF"/>
                </a:solidFill>
              </a:defRPr>
            </a:lvl1pPr>
          </a:lstStyle>
          <a:p>
            <a:fld id="{C5AD6DD8-D2C1-4FB8-8865-E21C3076E186}" type="datetimeFigureOut">
              <a:rPr lang="en-US" smtClean="0"/>
              <a:pPr/>
              <a:t>12/18/2025</a:t>
            </a:fld>
            <a:endParaRPr lang="en-US"/>
          </a:p>
        </p:txBody>
      </p:sp>
      <p:sp>
        <p:nvSpPr>
          <p:cNvPr id="17" name="Footer Placeholder 16"/>
          <p:cNvSpPr>
            <a:spLocks noGrp="1"/>
          </p:cNvSpPr>
          <p:nvPr>
            <p:ph type="ftr" sz="quarter" idx="11"/>
          </p:nvPr>
        </p:nvSpPr>
        <p:spPr>
          <a:xfrm>
            <a:off x="4105170" y="347669"/>
            <a:ext cx="11550186" cy="536667"/>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15750254" y="336000"/>
            <a:ext cx="1650027" cy="560000"/>
          </a:xfrm>
        </p:spPr>
        <p:txBody>
          <a:bodyPr/>
          <a:lstStyle>
            <a:lvl1pPr>
              <a:defRPr>
                <a:solidFill>
                  <a:schemeClr val="tx2"/>
                </a:solidFill>
              </a:defRPr>
            </a:lvl1pPr>
          </a:lstStyle>
          <a:p>
            <a:fld id="{FA1B1988-78EB-4973-8767-DEF294BE3A3F}"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206019" y="336001"/>
            <a:ext cx="16050259" cy="1456001"/>
          </a:xfrm>
        </p:spPr>
        <p:txBody>
          <a:bodyPr/>
          <a:lstStyle/>
          <a:p>
            <a:r>
              <a:rPr kumimoji="0" lang="en-US"/>
              <a:t>Click to edit Master title style</a:t>
            </a:r>
          </a:p>
        </p:txBody>
      </p:sp>
      <p:sp>
        <p:nvSpPr>
          <p:cNvPr id="4" name="Date Placeholder 3"/>
          <p:cNvSpPr>
            <a:spLocks noGrp="1"/>
          </p:cNvSpPr>
          <p:nvPr>
            <p:ph type="dt" sz="half" idx="10"/>
          </p:nvPr>
        </p:nvSpPr>
        <p:spPr>
          <a:xfrm>
            <a:off x="14398327" y="9081216"/>
            <a:ext cx="2852110" cy="639406"/>
          </a:xfrm>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FA1B1988-78EB-4973-8767-DEF294BE3A3F}" type="slidenum">
              <a:rPr lang="en-US" smtClean="0"/>
              <a:pPr/>
              <a:t>‹#›</a:t>
            </a:fld>
            <a:endParaRPr lang="en-US"/>
          </a:p>
        </p:txBody>
      </p:sp>
      <p:sp>
        <p:nvSpPr>
          <p:cNvPr id="8" name="Content Placeholder 7"/>
          <p:cNvSpPr>
            <a:spLocks noGrp="1"/>
          </p:cNvSpPr>
          <p:nvPr>
            <p:ph sz="quarter" idx="1"/>
          </p:nvPr>
        </p:nvSpPr>
        <p:spPr>
          <a:xfrm>
            <a:off x="1206019" y="2352004"/>
            <a:ext cx="16050259" cy="6608007"/>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700047" y="4032006"/>
            <a:ext cx="14022102" cy="2459334"/>
          </a:xfrm>
        </p:spPr>
        <p:txBody>
          <a:bodyPr anchor="t"/>
          <a:lstStyle>
            <a:lvl1pPr marL="0" indent="0">
              <a:buNone/>
              <a:defRPr sz="5500">
                <a:solidFill>
                  <a:schemeClr val="tx2"/>
                </a:solidFill>
              </a:defRPr>
            </a:lvl1pPr>
            <a:lvl2pPr>
              <a:buNone/>
              <a:defRPr sz="3500">
                <a:solidFill>
                  <a:schemeClr val="tx1">
                    <a:tint val="75000"/>
                  </a:schemeClr>
                </a:solidFill>
              </a:defRPr>
            </a:lvl2pPr>
            <a:lvl3pPr>
              <a:buNone/>
              <a:defRPr sz="3100">
                <a:solidFill>
                  <a:schemeClr val="tx1">
                    <a:tint val="75000"/>
                  </a:schemeClr>
                </a:solidFill>
              </a:defRPr>
            </a:lvl3pPr>
            <a:lvl4pPr>
              <a:buNone/>
              <a:defRPr sz="2800">
                <a:solidFill>
                  <a:schemeClr val="tx1">
                    <a:tint val="75000"/>
                  </a:schemeClr>
                </a:solidFill>
              </a:defRPr>
            </a:lvl4pPr>
            <a:lvl5pPr>
              <a:buNone/>
              <a:defRPr sz="28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bwMode="white">
          <a:xfrm>
            <a:off x="0" y="2240003"/>
            <a:ext cx="18000290" cy="1680003"/>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179707" tIns="89854" rIns="179707" bIns="89854" anchor="ctr"/>
          <a:lstStyle/>
          <a:p>
            <a:pPr algn="ctr" eaLnBrk="1" latinLnBrk="0" hangingPunct="1"/>
            <a:endParaRPr kumimoji="0" lang="en-US"/>
          </a:p>
        </p:txBody>
      </p:sp>
      <p:sp>
        <p:nvSpPr>
          <p:cNvPr id="8" name="Rectangle 7"/>
          <p:cNvSpPr/>
          <p:nvPr/>
        </p:nvSpPr>
        <p:spPr>
          <a:xfrm>
            <a:off x="0" y="2352003"/>
            <a:ext cx="2550041" cy="1456001"/>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179707" tIns="89854" rIns="179707" bIns="89854" anchor="ctr"/>
          <a:lstStyle/>
          <a:p>
            <a:pPr algn="ctr" eaLnBrk="1" latinLnBrk="0" hangingPunct="1"/>
            <a:endParaRPr kumimoji="0" lang="en-US"/>
          </a:p>
        </p:txBody>
      </p:sp>
      <p:sp>
        <p:nvSpPr>
          <p:cNvPr id="9" name="Rectangle 8"/>
          <p:cNvSpPr/>
          <p:nvPr/>
        </p:nvSpPr>
        <p:spPr>
          <a:xfrm>
            <a:off x="2700044" y="2352003"/>
            <a:ext cx="15300248" cy="1456001"/>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179707" tIns="89854" rIns="179707" bIns="89854" anchor="ctr"/>
          <a:lstStyle/>
          <a:p>
            <a:pPr algn="ctr" eaLnBrk="1" latinLnBrk="0" hangingPunct="1"/>
            <a:endParaRPr kumimoji="0" lang="en-US"/>
          </a:p>
        </p:txBody>
      </p:sp>
      <p:sp>
        <p:nvSpPr>
          <p:cNvPr id="2" name="Title 1"/>
          <p:cNvSpPr>
            <a:spLocks noGrp="1"/>
          </p:cNvSpPr>
          <p:nvPr>
            <p:ph type="title"/>
          </p:nvPr>
        </p:nvSpPr>
        <p:spPr>
          <a:xfrm>
            <a:off x="2700045" y="2352003"/>
            <a:ext cx="15000242" cy="1456001"/>
          </a:xfrm>
        </p:spPr>
        <p:txBody>
          <a:bodyPr/>
          <a:lstStyle>
            <a:lvl1pPr algn="l">
              <a:buNone/>
              <a:defRPr sz="8600" b="0" cap="none">
                <a:solidFill>
                  <a:srgbClr val="FFFFFF"/>
                </a:solidFill>
              </a:defRPr>
            </a:lvl1pPr>
          </a:lstStyle>
          <a:p>
            <a:r>
              <a:rPr kumimoji="0" lang="en-US"/>
              <a:t>Click to edit Master title style</a:t>
            </a:r>
          </a:p>
        </p:txBody>
      </p:sp>
      <p:sp>
        <p:nvSpPr>
          <p:cNvPr id="12" name="Date Placeholder 11"/>
          <p:cNvSpPr>
            <a:spLocks noGrp="1"/>
          </p:cNvSpPr>
          <p:nvPr>
            <p:ph type="dt" sz="half" idx="10"/>
          </p:nvPr>
        </p:nvSpPr>
        <p:spPr/>
        <p:txBody>
          <a:bodyPr/>
          <a:lstStyle/>
          <a:p>
            <a:fld id="{C5AD6DD8-D2C1-4FB8-8865-E21C3076E186}" type="datetimeFigureOut">
              <a:rPr lang="en-US" smtClean="0"/>
              <a:pPr/>
              <a:t>12/18/2025</a:t>
            </a:fld>
            <a:endParaRPr lang="en-US"/>
          </a:p>
        </p:txBody>
      </p:sp>
      <p:sp>
        <p:nvSpPr>
          <p:cNvPr id="13" name="Slide Number Placeholder 12"/>
          <p:cNvSpPr>
            <a:spLocks noGrp="1"/>
          </p:cNvSpPr>
          <p:nvPr>
            <p:ph type="sldNum" sz="quarter" idx="11"/>
          </p:nvPr>
        </p:nvSpPr>
        <p:spPr>
          <a:xfrm>
            <a:off x="0" y="2576004"/>
            <a:ext cx="2550041" cy="1031335"/>
          </a:xfrm>
        </p:spPr>
        <p:txBody>
          <a:bodyPr>
            <a:noAutofit/>
          </a:bodyPr>
          <a:lstStyle>
            <a:lvl1pPr>
              <a:defRPr sz="4700">
                <a:solidFill>
                  <a:srgbClr val="FFFFFF"/>
                </a:solidFill>
              </a:defRPr>
            </a:lvl1pPr>
          </a:lstStyle>
          <a:p>
            <a:fld id="{FA1B1988-78EB-4973-8767-DEF294BE3A3F}" type="slidenum">
              <a:rPr lang="en-US" smtClean="0"/>
              <a:pPr/>
              <a:t>‹#›</a:t>
            </a:fld>
            <a:endParaRPr lang="en-US"/>
          </a:p>
        </p:txBody>
      </p:sp>
      <p:sp>
        <p:nvSpPr>
          <p:cNvPr id="14" name="Footer Placeholder 13"/>
          <p:cNvSpPr>
            <a:spLocks noGrp="1"/>
          </p:cNvSpPr>
          <p:nvPr>
            <p:ph type="ftr" sz="quarter" idx="12"/>
          </p:nvPr>
        </p:nvSpPr>
        <p:spPr/>
        <p:txBody>
          <a:bodyPr/>
          <a:lstStyle/>
          <a:p>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9" name="Content Placeholder 8"/>
          <p:cNvSpPr>
            <a:spLocks noGrp="1"/>
          </p:cNvSpPr>
          <p:nvPr>
            <p:ph sz="quarter" idx="1"/>
          </p:nvPr>
        </p:nvSpPr>
        <p:spPr>
          <a:xfrm>
            <a:off x="1200019" y="2336374"/>
            <a:ext cx="7650123" cy="6720007"/>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9537361" y="2336374"/>
            <a:ext cx="7650123" cy="6720007"/>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8" name="Date Placeholder 7"/>
          <p:cNvSpPr>
            <a:spLocks noGrp="1"/>
          </p:cNvSpPr>
          <p:nvPr>
            <p:ph type="dt" sz="half" idx="15"/>
          </p:nvPr>
        </p:nvSpPr>
        <p:spPr/>
        <p:txBody>
          <a:bodyPr rtlCol="0"/>
          <a:lstStyle/>
          <a:p>
            <a:fld id="{C5AD6DD8-D2C1-4FB8-8865-E21C3076E186}" type="datetimeFigureOut">
              <a:rPr lang="en-US" smtClean="0"/>
              <a:pPr/>
              <a:t>12/18/2025</a:t>
            </a:fld>
            <a:endParaRPr lang="en-US"/>
          </a:p>
        </p:txBody>
      </p:sp>
      <p:sp>
        <p:nvSpPr>
          <p:cNvPr id="10" name="Slide Number Placeholder 9"/>
          <p:cNvSpPr>
            <a:spLocks noGrp="1"/>
          </p:cNvSpPr>
          <p:nvPr>
            <p:ph type="sldNum" sz="quarter" idx="16"/>
          </p:nvPr>
        </p:nvSpPr>
        <p:spPr/>
        <p:txBody>
          <a:bodyPr rtlCol="0"/>
          <a:lstStyle/>
          <a:p>
            <a:fld id="{FA1B1988-78EB-4973-8767-DEF294BE3A3F}" type="slidenum">
              <a:rPr lang="en-US" smtClean="0"/>
              <a:pPr/>
              <a:t>‹#›</a:t>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50017" y="401334"/>
            <a:ext cx="16050259" cy="1278668"/>
          </a:xfrm>
        </p:spPr>
        <p:txBody>
          <a:bodyPr anchor="ctr"/>
          <a:lstStyle>
            <a:lvl1pPr>
              <a:defRPr/>
            </a:lvl1pPr>
          </a:lstStyle>
          <a:p>
            <a:r>
              <a:rPr kumimoji="0" lang="en-US"/>
              <a:t>Click to edit Master title style</a:t>
            </a:r>
          </a:p>
        </p:txBody>
      </p:sp>
      <p:sp>
        <p:nvSpPr>
          <p:cNvPr id="11" name="Content Placeholder 10"/>
          <p:cNvSpPr>
            <a:spLocks noGrp="1"/>
          </p:cNvSpPr>
          <p:nvPr>
            <p:ph sz="quarter" idx="2"/>
          </p:nvPr>
        </p:nvSpPr>
        <p:spPr>
          <a:xfrm>
            <a:off x="1200019" y="3584006"/>
            <a:ext cx="7650123" cy="5264005"/>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9450152" y="3584006"/>
            <a:ext cx="7650123" cy="5264005"/>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Date Placeholder 9"/>
          <p:cNvSpPr>
            <a:spLocks noGrp="1"/>
          </p:cNvSpPr>
          <p:nvPr>
            <p:ph type="dt" sz="half" idx="15"/>
          </p:nvPr>
        </p:nvSpPr>
        <p:spPr/>
        <p:txBody>
          <a:bodyPr rtlCol="0"/>
          <a:lstStyle/>
          <a:p>
            <a:fld id="{C5AD6DD8-D2C1-4FB8-8865-E21C3076E186}" type="datetimeFigureOut">
              <a:rPr lang="en-US" smtClean="0"/>
              <a:pPr/>
              <a:t>12/18/2025</a:t>
            </a:fld>
            <a:endParaRPr lang="en-US"/>
          </a:p>
        </p:txBody>
      </p:sp>
      <p:sp>
        <p:nvSpPr>
          <p:cNvPr id="12" name="Slide Number Placeholder 11"/>
          <p:cNvSpPr>
            <a:spLocks noGrp="1"/>
          </p:cNvSpPr>
          <p:nvPr>
            <p:ph type="sldNum" sz="quarter" idx="16"/>
          </p:nvPr>
        </p:nvSpPr>
        <p:spPr/>
        <p:txBody>
          <a:bodyPr rtlCol="0"/>
          <a:lstStyle/>
          <a:p>
            <a:fld id="{FA1B1988-78EB-4973-8767-DEF294BE3A3F}" type="slidenum">
              <a:rPr lang="en-US" smtClean="0"/>
              <a:pP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1200019" y="2576003"/>
            <a:ext cx="7650123" cy="940801"/>
          </a:xfrm>
          <a:solidFill>
            <a:schemeClr val="accent2"/>
          </a:solidFill>
        </p:spPr>
        <p:txBody>
          <a:bodyPr rtlCol="0" anchor="ctr"/>
          <a:lstStyle>
            <a:lvl1pPr marL="0" indent="0">
              <a:buFontTx/>
              <a:buNone/>
              <a:defRPr sz="3900" b="1">
                <a:solidFill>
                  <a:srgbClr val="FFFFFF"/>
                </a:solidFill>
              </a:defRPr>
            </a:lvl1pPr>
          </a:lstStyle>
          <a:p>
            <a:pPr lvl="0" eaLnBrk="1" latinLnBrk="0" hangingPunct="1"/>
            <a:r>
              <a:rPr kumimoji="0" lang="en-US"/>
              <a:t>Click to edit Master text styles</a:t>
            </a:r>
          </a:p>
        </p:txBody>
      </p:sp>
      <p:sp>
        <p:nvSpPr>
          <p:cNvPr id="15" name="Text Placeholder 14"/>
          <p:cNvSpPr>
            <a:spLocks noGrp="1"/>
          </p:cNvSpPr>
          <p:nvPr>
            <p:ph type="body" sz="quarter" idx="3"/>
          </p:nvPr>
        </p:nvSpPr>
        <p:spPr>
          <a:xfrm>
            <a:off x="9450152" y="2576003"/>
            <a:ext cx="7650123" cy="940801"/>
          </a:xfrm>
          <a:solidFill>
            <a:schemeClr val="accent4"/>
          </a:solidFill>
        </p:spPr>
        <p:txBody>
          <a:bodyPr rtlCol="0" anchor="ctr"/>
          <a:lstStyle>
            <a:lvl1pPr marL="0" indent="0">
              <a:buFontTx/>
              <a:buNone/>
              <a:defRPr sz="39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C5AD6DD8-D2C1-4FB8-8865-E21C3076E186}" type="datetimeFigureOut">
              <a:rPr lang="en-US" smtClean="0"/>
              <a:pPr/>
              <a:t>12/18/2025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FA1B1988-78EB-4973-8767-DEF294BE3A3F}"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5AD6DD8-D2C1-4FB8-8865-E21C3076E186}" type="datetimeFigureOut">
              <a:rPr lang="en-US" smtClean="0"/>
              <a:pPr/>
              <a:t>12/18/2025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9184009"/>
            <a:ext cx="1050017" cy="560000"/>
          </a:xfrm>
        </p:spPr>
        <p:txBody>
          <a:bodyPr/>
          <a:lstStyle>
            <a:lvl1pPr>
              <a:defRPr>
                <a:solidFill>
                  <a:schemeClr val="tx2"/>
                </a:solidFill>
              </a:defRPr>
            </a:lvl1pPr>
          </a:lstStyle>
          <a:p>
            <a:fld id="{FA1B1988-78EB-4973-8767-DEF294BE3A3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00019" y="401334"/>
            <a:ext cx="15900257" cy="1278668"/>
          </a:xfrm>
        </p:spPr>
        <p:txBody>
          <a:bodyPr anchor="ctr"/>
          <a:lstStyle>
            <a:lvl1pPr algn="l">
              <a:buNone/>
              <a:defRPr sz="8600" b="0"/>
            </a:lvl1pPr>
          </a:lstStyle>
          <a:p>
            <a:r>
              <a:rPr kumimoji="0" lang="en-US"/>
              <a:t>Click to edit Master title style</a:t>
            </a:r>
          </a:p>
        </p:txBody>
      </p:sp>
      <p:sp>
        <p:nvSpPr>
          <p:cNvPr id="5" name="Date Placeholder 4"/>
          <p:cNvSpPr>
            <a:spLocks noGrp="1"/>
          </p:cNvSpPr>
          <p:nvPr>
            <p:ph type="dt" sz="half" idx="10"/>
          </p:nvPr>
        </p:nvSpPr>
        <p:spPr/>
        <p:txBody>
          <a:bodyPr/>
          <a:lstStyle/>
          <a:p>
            <a:fld id="{C5AD6DD8-D2C1-4FB8-8865-E21C3076E186}" type="datetimeFigureOut">
              <a:rPr lang="en-US" smtClean="0"/>
              <a:pPr/>
              <a:t>12/18/2025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FA1B1988-78EB-4973-8767-DEF294BE3A3F}" type="slidenum">
              <a:rPr lang="en-US" smtClean="0"/>
              <a:pPr/>
              <a:t>‹#›</a:t>
            </a:fld>
            <a:endParaRPr lang="en-US"/>
          </a:p>
        </p:txBody>
      </p:sp>
      <p:sp>
        <p:nvSpPr>
          <p:cNvPr id="3" name="Text Placeholder 2"/>
          <p:cNvSpPr>
            <a:spLocks noGrp="1"/>
          </p:cNvSpPr>
          <p:nvPr>
            <p:ph type="body" idx="2"/>
          </p:nvPr>
        </p:nvSpPr>
        <p:spPr>
          <a:xfrm>
            <a:off x="1200019" y="2576003"/>
            <a:ext cx="3150051" cy="6384006"/>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269561" tIns="359414" rIns="269561" bIns="179707"/>
          <a:lstStyle>
            <a:lvl1pPr marL="0" indent="0">
              <a:spcAft>
                <a:spcPts val="1965"/>
              </a:spcAft>
              <a:buNone/>
              <a:defRPr sz="3500"/>
            </a:lvl1pPr>
            <a:lvl2pPr>
              <a:buNone/>
              <a:defRPr sz="2400"/>
            </a:lvl2pPr>
            <a:lvl3pPr>
              <a:buNone/>
              <a:defRPr sz="2000"/>
            </a:lvl3pPr>
            <a:lvl4pPr>
              <a:buNone/>
              <a:defRPr sz="1800"/>
            </a:lvl4pPr>
            <a:lvl5pPr>
              <a:buNone/>
              <a:defRPr sz="1800"/>
            </a:lvl5pPr>
          </a:lstStyle>
          <a:p>
            <a:pPr lvl="0" eaLnBrk="1" latinLnBrk="0" hangingPunct="1"/>
            <a:r>
              <a:rPr kumimoji="0" lang="en-US"/>
              <a:t>Click to edit Master text styles</a:t>
            </a:r>
          </a:p>
        </p:txBody>
      </p:sp>
      <p:sp>
        <p:nvSpPr>
          <p:cNvPr id="9" name="Content Placeholder 8"/>
          <p:cNvSpPr>
            <a:spLocks noGrp="1"/>
          </p:cNvSpPr>
          <p:nvPr>
            <p:ph sz="quarter" idx="1"/>
          </p:nvPr>
        </p:nvSpPr>
        <p:spPr>
          <a:xfrm>
            <a:off x="4650075" y="2576004"/>
            <a:ext cx="12600203" cy="6496005"/>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3150051" y="8064008"/>
            <a:ext cx="14400232" cy="1008001"/>
          </a:xfrm>
        </p:spPr>
        <p:txBody>
          <a:bodyPr/>
          <a:lstStyle>
            <a:lvl1pPr marL="0" indent="0">
              <a:buFontTx/>
              <a:buNone/>
              <a:defRPr sz="3300"/>
            </a:lvl1pPr>
            <a:lvl2pPr>
              <a:buFontTx/>
              <a:buNone/>
              <a:defRPr sz="2400"/>
            </a:lvl2pPr>
            <a:lvl3pPr>
              <a:buFontTx/>
              <a:buNone/>
              <a:defRPr sz="2000"/>
            </a:lvl3pPr>
            <a:lvl4pPr>
              <a:buFontTx/>
              <a:buNone/>
              <a:defRPr sz="1800"/>
            </a:lvl4pPr>
            <a:lvl5pPr>
              <a:buFontTx/>
              <a:buNone/>
              <a:defRPr sz="1800"/>
            </a:lvl5pPr>
          </a:lstStyle>
          <a:p>
            <a:pPr lvl="0" eaLnBrk="1" latinLnBrk="0" hangingPunct="1"/>
            <a:r>
              <a:rPr kumimoji="0" lang="en-US"/>
              <a:t>Click to edit Master text styles</a:t>
            </a:r>
          </a:p>
        </p:txBody>
      </p:sp>
      <p:sp>
        <p:nvSpPr>
          <p:cNvPr id="8" name="Rectangle 7"/>
          <p:cNvSpPr/>
          <p:nvPr/>
        </p:nvSpPr>
        <p:spPr bwMode="white">
          <a:xfrm>
            <a:off x="-18000" y="6720008"/>
            <a:ext cx="18000290" cy="130368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179707" tIns="89854" rIns="179707" bIns="89854" anchor="ctr"/>
          <a:lstStyle/>
          <a:p>
            <a:pPr algn="ctr" eaLnBrk="1" latinLnBrk="0" hangingPunct="1"/>
            <a:endParaRPr kumimoji="0" lang="en-US"/>
          </a:p>
        </p:txBody>
      </p:sp>
      <p:sp>
        <p:nvSpPr>
          <p:cNvPr id="9" name="Rectangle 8"/>
          <p:cNvSpPr/>
          <p:nvPr/>
        </p:nvSpPr>
        <p:spPr>
          <a:xfrm>
            <a:off x="-18000" y="6854408"/>
            <a:ext cx="2880046" cy="1048321"/>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179707" tIns="89854" rIns="179707" bIns="89854" anchor="ctr"/>
          <a:lstStyle/>
          <a:p>
            <a:pPr algn="ctr" eaLnBrk="1" latinLnBrk="0" hangingPunct="1"/>
            <a:endParaRPr kumimoji="0" lang="en-US"/>
          </a:p>
        </p:txBody>
      </p:sp>
      <p:sp>
        <p:nvSpPr>
          <p:cNvPr id="10" name="Rectangle 9"/>
          <p:cNvSpPr/>
          <p:nvPr/>
        </p:nvSpPr>
        <p:spPr>
          <a:xfrm>
            <a:off x="3042049" y="6840969"/>
            <a:ext cx="14958241" cy="1048321"/>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179707" tIns="89854" rIns="179707" bIns="89854" anchor="ctr"/>
          <a:lstStyle/>
          <a:p>
            <a:pPr algn="ctr" eaLnBrk="1" latinLnBrk="0" hangingPunct="1"/>
            <a:endParaRPr kumimoji="0" lang="en-US"/>
          </a:p>
        </p:txBody>
      </p:sp>
      <p:sp>
        <p:nvSpPr>
          <p:cNvPr id="2" name="Title 1"/>
          <p:cNvSpPr>
            <a:spLocks noGrp="1"/>
          </p:cNvSpPr>
          <p:nvPr>
            <p:ph type="title"/>
          </p:nvPr>
        </p:nvSpPr>
        <p:spPr>
          <a:xfrm>
            <a:off x="3150051" y="6832007"/>
            <a:ext cx="14400232" cy="1008001"/>
          </a:xfrm>
        </p:spPr>
        <p:txBody>
          <a:bodyPr anchor="ctr"/>
          <a:lstStyle>
            <a:lvl1pPr algn="l">
              <a:buNone/>
              <a:defRPr sz="5500" b="0">
                <a:solidFill>
                  <a:srgbClr val="FFFFFF"/>
                </a:solidFill>
              </a:defRPr>
            </a:lvl1pPr>
          </a:lstStyle>
          <a:p>
            <a:r>
              <a:rPr kumimoji="0" lang="en-US"/>
              <a:t>Click to edit Master title style</a:t>
            </a:r>
          </a:p>
        </p:txBody>
      </p:sp>
      <p:sp>
        <p:nvSpPr>
          <p:cNvPr id="11" name="Rectangle 10"/>
          <p:cNvSpPr/>
          <p:nvPr/>
        </p:nvSpPr>
        <p:spPr bwMode="white">
          <a:xfrm>
            <a:off x="2850046" y="0"/>
            <a:ext cx="198003" cy="1009345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179707" tIns="89854" rIns="179707" bIns="89854" anchor="ctr"/>
          <a:lstStyle/>
          <a:p>
            <a:pPr algn="ctr" eaLnBrk="1" latinLnBrk="0" hangingPunct="1"/>
            <a:endParaRPr kumimoji="0" lang="en-US"/>
          </a:p>
        </p:txBody>
      </p:sp>
      <p:sp>
        <p:nvSpPr>
          <p:cNvPr id="12" name="Date Placeholder 11"/>
          <p:cNvSpPr>
            <a:spLocks noGrp="1"/>
          </p:cNvSpPr>
          <p:nvPr>
            <p:ph type="dt" sz="half" idx="10"/>
          </p:nvPr>
        </p:nvSpPr>
        <p:spPr>
          <a:xfrm>
            <a:off x="12300199" y="9184009"/>
            <a:ext cx="5250085" cy="536667"/>
          </a:xfrm>
        </p:spPr>
        <p:txBody>
          <a:bodyPr rtlCol="0"/>
          <a:lstStyle/>
          <a:p>
            <a:fld id="{C5AD6DD8-D2C1-4FB8-8865-E21C3076E186}" type="datetimeFigureOut">
              <a:rPr lang="en-US" smtClean="0"/>
              <a:pPr/>
              <a:t>12/18/2025</a:t>
            </a:fld>
            <a:endParaRPr lang="en-US"/>
          </a:p>
        </p:txBody>
      </p:sp>
      <p:sp>
        <p:nvSpPr>
          <p:cNvPr id="13" name="Slide Number Placeholder 12"/>
          <p:cNvSpPr>
            <a:spLocks noGrp="1"/>
          </p:cNvSpPr>
          <p:nvPr>
            <p:ph type="sldNum" sz="quarter" idx="11"/>
          </p:nvPr>
        </p:nvSpPr>
        <p:spPr>
          <a:xfrm>
            <a:off x="0" y="6860008"/>
            <a:ext cx="2850046" cy="975339"/>
          </a:xfrm>
        </p:spPr>
        <p:txBody>
          <a:bodyPr rtlCol="0"/>
          <a:lstStyle>
            <a:lvl1pPr>
              <a:defRPr sz="5500"/>
            </a:lvl1pPr>
          </a:lstStyle>
          <a:p>
            <a:fld id="{FA1B1988-78EB-4973-8767-DEF294BE3A3F}" type="slidenum">
              <a:rPr lang="en-US" smtClean="0"/>
              <a:pPr/>
              <a:t>‹#›</a:t>
            </a:fld>
            <a:endParaRPr lang="en-US"/>
          </a:p>
        </p:txBody>
      </p:sp>
      <p:sp>
        <p:nvSpPr>
          <p:cNvPr id="14" name="Footer Placeholder 13"/>
          <p:cNvSpPr>
            <a:spLocks noGrp="1"/>
          </p:cNvSpPr>
          <p:nvPr>
            <p:ph type="ftr" sz="quarter" idx="12"/>
          </p:nvPr>
        </p:nvSpPr>
        <p:spPr>
          <a:xfrm>
            <a:off x="3150051" y="9183726"/>
            <a:ext cx="9000145" cy="536667"/>
          </a:xfrm>
        </p:spPr>
        <p:txBody>
          <a:bodyPr rtlCol="0"/>
          <a:lstStyle/>
          <a:p>
            <a:endParaRPr lang="en-US"/>
          </a:p>
        </p:txBody>
      </p:sp>
      <p:sp>
        <p:nvSpPr>
          <p:cNvPr id="3" name="Picture Placeholder 2"/>
          <p:cNvSpPr>
            <a:spLocks noGrp="1"/>
          </p:cNvSpPr>
          <p:nvPr>
            <p:ph type="pic" idx="1"/>
          </p:nvPr>
        </p:nvSpPr>
        <p:spPr>
          <a:xfrm>
            <a:off x="3072050" y="0"/>
            <a:ext cx="14928241" cy="6715527"/>
          </a:xfrm>
          <a:solidFill>
            <a:schemeClr val="accent1">
              <a:tint val="40000"/>
            </a:schemeClr>
          </a:solidFill>
          <a:ln>
            <a:noFill/>
          </a:ln>
        </p:spPr>
        <p:txBody>
          <a:bodyPr/>
          <a:lstStyle>
            <a:lvl1pPr marL="0" indent="0">
              <a:buNone/>
              <a:defRPr sz="6300"/>
            </a:lvl1pPr>
          </a:lstStyle>
          <a:p>
            <a:r>
              <a:rPr kumimoji="0" lang="en-US"/>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C5AD6DD8-D2C1-4FB8-8865-E21C3076E186}" type="datetimeFigureOut">
              <a:rPr lang="en-US" smtClean="0"/>
              <a:pPr/>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1B1988-78EB-4973-8767-DEF294BE3A3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2900209" y="896000"/>
            <a:ext cx="4050065" cy="810834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900015" y="896000"/>
            <a:ext cx="10950177" cy="810834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12900208" y="9184013"/>
            <a:ext cx="4350070" cy="536667"/>
          </a:xfrm>
        </p:spPr>
        <p:txBody>
          <a:bodyPr/>
          <a:lstStyle/>
          <a:p>
            <a:fld id="{C5AD6DD8-D2C1-4FB8-8865-E21C3076E186}" type="datetimeFigureOut">
              <a:rPr lang="en-US" smtClean="0"/>
              <a:pPr/>
              <a:t>12/18/2025</a:t>
            </a:fld>
            <a:endParaRPr lang="en-US"/>
          </a:p>
        </p:txBody>
      </p:sp>
      <p:sp>
        <p:nvSpPr>
          <p:cNvPr id="5" name="Footer Placeholder 4"/>
          <p:cNvSpPr>
            <a:spLocks noGrp="1"/>
          </p:cNvSpPr>
          <p:nvPr>
            <p:ph type="ftr" sz="quarter" idx="11"/>
          </p:nvPr>
        </p:nvSpPr>
        <p:spPr>
          <a:xfrm>
            <a:off x="900020" y="9183728"/>
            <a:ext cx="10971601" cy="536667"/>
          </a:xfrm>
        </p:spPr>
        <p:txBody>
          <a:bodyPr/>
          <a:lstStyle/>
          <a:p>
            <a:endParaRPr lang="en-US"/>
          </a:p>
        </p:txBody>
      </p:sp>
      <p:sp>
        <p:nvSpPr>
          <p:cNvPr id="7" name="Rectangle 6"/>
          <p:cNvSpPr/>
          <p:nvPr/>
        </p:nvSpPr>
        <p:spPr bwMode="white">
          <a:xfrm>
            <a:off x="12000819" y="0"/>
            <a:ext cx="630010" cy="1008001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lIns="179707" tIns="89854" rIns="179707" bIns="89854" rtlCol="0" anchor="ctr"/>
          <a:lstStyle/>
          <a:p>
            <a:pPr algn="ctr" eaLnBrk="1" latinLnBrk="0" hangingPunct="1"/>
            <a:endParaRPr kumimoji="0" lang="en-US"/>
          </a:p>
        </p:txBody>
      </p:sp>
      <p:sp>
        <p:nvSpPr>
          <p:cNvPr id="8" name="Rectangle 7"/>
          <p:cNvSpPr/>
          <p:nvPr/>
        </p:nvSpPr>
        <p:spPr>
          <a:xfrm>
            <a:off x="12090821" y="896001"/>
            <a:ext cx="450007" cy="9184009"/>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lIns="179707" tIns="89854" rIns="179707" bIns="89854" rtlCol="0" anchor="ctr"/>
          <a:lstStyle/>
          <a:p>
            <a:pPr algn="ctr" eaLnBrk="1" latinLnBrk="0" hangingPunct="1"/>
            <a:endParaRPr kumimoji="0" lang="en-US"/>
          </a:p>
        </p:txBody>
      </p:sp>
      <p:sp>
        <p:nvSpPr>
          <p:cNvPr id="9" name="Rectangle 8"/>
          <p:cNvSpPr/>
          <p:nvPr/>
        </p:nvSpPr>
        <p:spPr>
          <a:xfrm>
            <a:off x="12090821" y="0"/>
            <a:ext cx="450007" cy="784002"/>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lIns="179707" tIns="89854" rIns="179707" bIns="89854"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11923842" y="151360"/>
            <a:ext cx="783965" cy="481282"/>
          </a:xfrm>
        </p:spPr>
        <p:txBody>
          <a:bodyPr/>
          <a:lstStyle/>
          <a:p>
            <a:fld id="{FA1B1988-78EB-4973-8767-DEF294BE3A3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1200019" y="336001"/>
            <a:ext cx="16050259" cy="1456001"/>
          </a:xfrm>
          <a:prstGeom prst="rect">
            <a:avLst/>
          </a:prstGeom>
        </p:spPr>
        <p:txBody>
          <a:bodyPr vert="horz" lIns="179707" tIns="89854" rIns="179707" bIns="89854" anchor="ctr">
            <a:normAutofit/>
          </a:bodyPr>
          <a:lstStyle/>
          <a:p>
            <a:r>
              <a:rPr kumimoji="0" lang="en-US"/>
              <a:t>Click to edit Master title style</a:t>
            </a:r>
          </a:p>
        </p:txBody>
      </p:sp>
      <p:sp>
        <p:nvSpPr>
          <p:cNvPr id="13" name="Text Placeholder 12"/>
          <p:cNvSpPr>
            <a:spLocks noGrp="1"/>
          </p:cNvSpPr>
          <p:nvPr>
            <p:ph type="body" idx="1"/>
          </p:nvPr>
        </p:nvSpPr>
        <p:spPr>
          <a:xfrm>
            <a:off x="1206019" y="2352003"/>
            <a:ext cx="16050259" cy="6652806"/>
          </a:xfrm>
          <a:prstGeom prst="rect">
            <a:avLst/>
          </a:prstGeom>
        </p:spPr>
        <p:txBody>
          <a:bodyPr vert="horz" lIns="179707" tIns="89854" rIns="179707" bIns="89854">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12000193" y="9184009"/>
            <a:ext cx="5250085" cy="536667"/>
          </a:xfrm>
          <a:prstGeom prst="rect">
            <a:avLst/>
          </a:prstGeom>
        </p:spPr>
        <p:txBody>
          <a:bodyPr vert="horz" lIns="179707" tIns="89854" rIns="179707" bIns="89854" anchor="ctr" anchorCtr="0"/>
          <a:lstStyle>
            <a:lvl1pPr algn="l" eaLnBrk="1" latinLnBrk="0" hangingPunct="1">
              <a:defRPr kumimoji="0" sz="2800">
                <a:solidFill>
                  <a:schemeClr val="tx2"/>
                </a:solidFill>
              </a:defRPr>
            </a:lvl1pPr>
          </a:lstStyle>
          <a:p>
            <a:fld id="{C5AD6DD8-D2C1-4FB8-8865-E21C3076E186}" type="datetimeFigureOut">
              <a:rPr lang="en-US" smtClean="0"/>
              <a:pPr/>
              <a:t>12/18/2025</a:t>
            </a:fld>
            <a:endParaRPr lang="en-US"/>
          </a:p>
        </p:txBody>
      </p:sp>
      <p:sp>
        <p:nvSpPr>
          <p:cNvPr id="3" name="Footer Placeholder 2"/>
          <p:cNvSpPr>
            <a:spLocks noGrp="1"/>
          </p:cNvSpPr>
          <p:nvPr>
            <p:ph type="ftr" sz="quarter" idx="3"/>
          </p:nvPr>
        </p:nvSpPr>
        <p:spPr>
          <a:xfrm>
            <a:off x="1200022" y="9183726"/>
            <a:ext cx="10671595" cy="536667"/>
          </a:xfrm>
          <a:prstGeom prst="rect">
            <a:avLst/>
          </a:prstGeom>
        </p:spPr>
        <p:txBody>
          <a:bodyPr vert="horz" lIns="179707" tIns="89854" rIns="179707" bIns="89854" anchor="ctr"/>
          <a:lstStyle>
            <a:lvl1pPr algn="r" eaLnBrk="1" latinLnBrk="0" hangingPunct="1">
              <a:defRPr kumimoji="0" sz="2800">
                <a:solidFill>
                  <a:schemeClr val="tx2"/>
                </a:solidFill>
              </a:defRPr>
            </a:lvl1pPr>
          </a:lstStyle>
          <a:p>
            <a:endParaRPr lang="en-US"/>
          </a:p>
        </p:txBody>
      </p:sp>
      <p:sp>
        <p:nvSpPr>
          <p:cNvPr id="7" name="Rectangle 6"/>
          <p:cNvSpPr/>
          <p:nvPr/>
        </p:nvSpPr>
        <p:spPr bwMode="white">
          <a:xfrm>
            <a:off x="0" y="1814402"/>
            <a:ext cx="18000290" cy="4704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179707" tIns="89854" rIns="179707" bIns="89854" anchor="ctr"/>
          <a:lstStyle/>
          <a:p>
            <a:pPr algn="ctr" eaLnBrk="1" latinLnBrk="0" hangingPunct="1"/>
            <a:endParaRPr kumimoji="0" lang="en-US"/>
          </a:p>
        </p:txBody>
      </p:sp>
      <p:sp>
        <p:nvSpPr>
          <p:cNvPr id="8" name="Rectangle 7"/>
          <p:cNvSpPr/>
          <p:nvPr/>
        </p:nvSpPr>
        <p:spPr>
          <a:xfrm>
            <a:off x="0" y="1881602"/>
            <a:ext cx="1050017" cy="3360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179707" tIns="89854" rIns="179707" bIns="89854" anchor="ctr"/>
          <a:lstStyle/>
          <a:p>
            <a:pPr algn="ctr" eaLnBrk="1" latinLnBrk="0" hangingPunct="1"/>
            <a:endParaRPr kumimoji="0" lang="en-US"/>
          </a:p>
        </p:txBody>
      </p:sp>
      <p:sp>
        <p:nvSpPr>
          <p:cNvPr id="9" name="Rectangle 8"/>
          <p:cNvSpPr/>
          <p:nvPr/>
        </p:nvSpPr>
        <p:spPr>
          <a:xfrm>
            <a:off x="1162519" y="1881602"/>
            <a:ext cx="16837772" cy="3360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179707" tIns="89854" rIns="179707" bIns="89854"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869934"/>
            <a:ext cx="1050017" cy="359336"/>
          </a:xfrm>
          <a:prstGeom prst="rect">
            <a:avLst/>
          </a:prstGeom>
        </p:spPr>
        <p:txBody>
          <a:bodyPr vert="horz" lIns="179707" tIns="89854" rIns="179707" bIns="89854" anchor="ctr" anchorCtr="0">
            <a:normAutofit/>
          </a:bodyPr>
          <a:lstStyle>
            <a:lvl1pPr algn="ctr" eaLnBrk="1" latinLnBrk="0" hangingPunct="1">
              <a:defRPr kumimoji="0" sz="2800" b="1">
                <a:solidFill>
                  <a:srgbClr val="FFFFFF"/>
                </a:solidFill>
              </a:defRPr>
            </a:lvl1pPr>
          </a:lstStyle>
          <a:p>
            <a:fld id="{FA1B1988-78EB-4973-8767-DEF294BE3A3F}"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1" latinLnBrk="0" hangingPunct="1">
        <a:spcBef>
          <a:spcPct val="0"/>
        </a:spcBef>
        <a:buNone/>
        <a:defRPr kumimoji="0" sz="8600" kern="1200">
          <a:solidFill>
            <a:schemeClr val="tx2"/>
          </a:solidFill>
          <a:latin typeface="+mj-lt"/>
          <a:ea typeface="+mj-ea"/>
          <a:cs typeface="+mj-cs"/>
        </a:defRPr>
      </a:lvl1pPr>
    </p:titleStyle>
    <p:bodyStyle>
      <a:lvl1pPr marL="629285" indent="-629285" algn="l" rtl="0" eaLnBrk="1" latinLnBrk="0" hangingPunct="1">
        <a:spcBef>
          <a:spcPts val="1375"/>
        </a:spcBef>
        <a:buClr>
          <a:schemeClr val="accent2"/>
        </a:buClr>
        <a:buSzPct val="60000"/>
        <a:buFont typeface="Wingdings" panose="05000000000000000000"/>
        <a:buChar char=""/>
        <a:defRPr kumimoji="0" sz="5700" kern="1200">
          <a:solidFill>
            <a:schemeClr val="tx1"/>
          </a:solidFill>
          <a:latin typeface="+mn-lt"/>
          <a:ea typeface="+mn-ea"/>
          <a:cs typeface="+mn-cs"/>
        </a:defRPr>
      </a:lvl1pPr>
      <a:lvl2pPr marL="1257935" indent="-539115" algn="l" rtl="0" eaLnBrk="1" latinLnBrk="0" hangingPunct="1">
        <a:spcBef>
          <a:spcPts val="1080"/>
        </a:spcBef>
        <a:buClr>
          <a:schemeClr val="accent1"/>
        </a:buClr>
        <a:buSzPct val="70000"/>
        <a:buFont typeface="Wingdings 2" panose="05020102010507070707"/>
        <a:buChar char=""/>
        <a:defRPr kumimoji="0" sz="5100" kern="1200">
          <a:solidFill>
            <a:schemeClr val="tx1"/>
          </a:solidFill>
          <a:latin typeface="+mn-lt"/>
          <a:ea typeface="+mn-ea"/>
          <a:cs typeface="+mn-cs"/>
        </a:defRPr>
      </a:lvl2pPr>
      <a:lvl3pPr marL="1797050" indent="-449580" algn="l" rtl="0" eaLnBrk="1" latinLnBrk="0" hangingPunct="1">
        <a:spcBef>
          <a:spcPts val="985"/>
        </a:spcBef>
        <a:buClr>
          <a:schemeClr val="accent2"/>
        </a:buClr>
        <a:buSzPct val="75000"/>
        <a:buFont typeface="Wingdings" panose="05000000000000000000"/>
        <a:buChar char=""/>
        <a:defRPr kumimoji="0" sz="4500" kern="1200">
          <a:solidFill>
            <a:schemeClr val="tx1"/>
          </a:solidFill>
          <a:latin typeface="+mn-lt"/>
          <a:ea typeface="+mn-ea"/>
          <a:cs typeface="+mn-cs"/>
        </a:defRPr>
      </a:lvl3pPr>
      <a:lvl4pPr marL="2695575" indent="-449580" algn="l" rtl="0" eaLnBrk="1" latinLnBrk="0" hangingPunct="1">
        <a:spcBef>
          <a:spcPts val="785"/>
        </a:spcBef>
        <a:buClr>
          <a:schemeClr val="accent3"/>
        </a:buClr>
        <a:buSzPct val="75000"/>
        <a:buFont typeface="Wingdings" panose="05000000000000000000"/>
        <a:buChar char=""/>
        <a:defRPr kumimoji="0" sz="3900" kern="1200">
          <a:solidFill>
            <a:schemeClr val="tx1"/>
          </a:solidFill>
          <a:latin typeface="+mn-lt"/>
          <a:ea typeface="+mn-ea"/>
          <a:cs typeface="+mn-cs"/>
        </a:defRPr>
      </a:lvl4pPr>
      <a:lvl5pPr marL="3594100" indent="-449580" algn="l" rtl="0" eaLnBrk="1" latinLnBrk="0" hangingPunct="1">
        <a:spcBef>
          <a:spcPts val="785"/>
        </a:spcBef>
        <a:buClr>
          <a:schemeClr val="accent4"/>
        </a:buClr>
        <a:buSzPct val="65000"/>
        <a:buFont typeface="Wingdings" panose="05000000000000000000"/>
        <a:buChar char=""/>
        <a:defRPr kumimoji="0" sz="3900" kern="1200">
          <a:solidFill>
            <a:schemeClr val="tx1"/>
          </a:solidFill>
          <a:latin typeface="+mn-lt"/>
          <a:ea typeface="+mn-ea"/>
          <a:cs typeface="+mn-cs"/>
        </a:defRPr>
      </a:lvl5pPr>
      <a:lvl6pPr marL="4133215" indent="-449580" algn="l" rtl="0" eaLnBrk="1" latinLnBrk="0" hangingPunct="1">
        <a:spcBef>
          <a:spcPct val="20000"/>
        </a:spcBef>
        <a:buClr>
          <a:schemeClr val="accent1"/>
        </a:buClr>
        <a:buFont typeface="Wingdings" panose="05000000000000000000"/>
        <a:buChar char="§"/>
        <a:defRPr kumimoji="0" sz="3500" kern="1200" baseline="0">
          <a:solidFill>
            <a:schemeClr val="tx1"/>
          </a:solidFill>
          <a:latin typeface="+mn-lt"/>
          <a:ea typeface="+mn-ea"/>
          <a:cs typeface="+mn-cs"/>
        </a:defRPr>
      </a:lvl6pPr>
      <a:lvl7pPr marL="4672330" indent="-449580" algn="l" rtl="0" eaLnBrk="1" latinLnBrk="0" hangingPunct="1">
        <a:spcBef>
          <a:spcPct val="20000"/>
        </a:spcBef>
        <a:buClr>
          <a:schemeClr val="accent2"/>
        </a:buClr>
        <a:buFont typeface="Wingdings" panose="05000000000000000000"/>
        <a:buChar char="§"/>
        <a:defRPr kumimoji="0" sz="3500" kern="1200" baseline="0">
          <a:solidFill>
            <a:schemeClr val="tx1"/>
          </a:solidFill>
          <a:latin typeface="+mn-lt"/>
          <a:ea typeface="+mn-ea"/>
          <a:cs typeface="+mn-cs"/>
        </a:defRPr>
      </a:lvl7pPr>
      <a:lvl8pPr marL="5210810" indent="-449580" algn="l" rtl="0" eaLnBrk="1" latinLnBrk="0" hangingPunct="1">
        <a:spcBef>
          <a:spcPct val="20000"/>
        </a:spcBef>
        <a:buClr>
          <a:schemeClr val="accent3"/>
        </a:buClr>
        <a:buFont typeface="Wingdings" panose="05000000000000000000"/>
        <a:buChar char="§"/>
        <a:defRPr kumimoji="0" sz="3500" kern="1200" baseline="0">
          <a:solidFill>
            <a:schemeClr val="tx1"/>
          </a:solidFill>
          <a:latin typeface="+mn-lt"/>
          <a:ea typeface="+mn-ea"/>
          <a:cs typeface="+mn-cs"/>
        </a:defRPr>
      </a:lvl8pPr>
      <a:lvl9pPr marL="5749925" indent="-449580" algn="l" rtl="0" eaLnBrk="1" latinLnBrk="0" hangingPunct="1">
        <a:spcBef>
          <a:spcPct val="20000"/>
        </a:spcBef>
        <a:buClr>
          <a:schemeClr val="accent4"/>
        </a:buClr>
        <a:buFont typeface="Wingdings" panose="05000000000000000000"/>
        <a:buChar char="§"/>
        <a:defRPr kumimoji="0" sz="35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898525" algn="l" rtl="0" eaLnBrk="1" latinLnBrk="0" hangingPunct="1">
        <a:defRPr kumimoji="0" kern="1200">
          <a:solidFill>
            <a:schemeClr val="tx1"/>
          </a:solidFill>
          <a:latin typeface="+mn-lt"/>
          <a:ea typeface="+mn-ea"/>
          <a:cs typeface="+mn-cs"/>
        </a:defRPr>
      </a:lvl2pPr>
      <a:lvl3pPr marL="1797050" algn="l" rtl="0" eaLnBrk="1" latinLnBrk="0" hangingPunct="1">
        <a:defRPr kumimoji="0" kern="1200">
          <a:solidFill>
            <a:schemeClr val="tx1"/>
          </a:solidFill>
          <a:latin typeface="+mn-lt"/>
          <a:ea typeface="+mn-ea"/>
          <a:cs typeface="+mn-cs"/>
        </a:defRPr>
      </a:lvl3pPr>
      <a:lvl4pPr marL="2695575" algn="l" rtl="0" eaLnBrk="1" latinLnBrk="0" hangingPunct="1">
        <a:defRPr kumimoji="0" kern="1200">
          <a:solidFill>
            <a:schemeClr val="tx1"/>
          </a:solidFill>
          <a:latin typeface="+mn-lt"/>
          <a:ea typeface="+mn-ea"/>
          <a:cs typeface="+mn-cs"/>
        </a:defRPr>
      </a:lvl4pPr>
      <a:lvl5pPr marL="3594100" algn="l" rtl="0" eaLnBrk="1" latinLnBrk="0" hangingPunct="1">
        <a:defRPr kumimoji="0" kern="1200">
          <a:solidFill>
            <a:schemeClr val="tx1"/>
          </a:solidFill>
          <a:latin typeface="+mn-lt"/>
          <a:ea typeface="+mn-ea"/>
          <a:cs typeface="+mn-cs"/>
        </a:defRPr>
      </a:lvl5pPr>
      <a:lvl6pPr marL="4492625" algn="l" rtl="0" eaLnBrk="1" latinLnBrk="0" hangingPunct="1">
        <a:defRPr kumimoji="0" kern="1200">
          <a:solidFill>
            <a:schemeClr val="tx1"/>
          </a:solidFill>
          <a:latin typeface="+mn-lt"/>
          <a:ea typeface="+mn-ea"/>
          <a:cs typeface="+mn-cs"/>
        </a:defRPr>
      </a:lvl6pPr>
      <a:lvl7pPr marL="5390515" algn="l" rtl="0" eaLnBrk="1" latinLnBrk="0" hangingPunct="1">
        <a:defRPr kumimoji="0" kern="1200">
          <a:solidFill>
            <a:schemeClr val="tx1"/>
          </a:solidFill>
          <a:latin typeface="+mn-lt"/>
          <a:ea typeface="+mn-ea"/>
          <a:cs typeface="+mn-cs"/>
        </a:defRPr>
      </a:lvl7pPr>
      <a:lvl8pPr marL="6289040" algn="l" rtl="0" eaLnBrk="1" latinLnBrk="0" hangingPunct="1">
        <a:defRPr kumimoji="0" kern="1200">
          <a:solidFill>
            <a:schemeClr val="tx1"/>
          </a:solidFill>
          <a:latin typeface="+mn-lt"/>
          <a:ea typeface="+mn-ea"/>
          <a:cs typeface="+mn-cs"/>
        </a:defRPr>
      </a:lvl8pPr>
      <a:lvl9pPr marL="7187565"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sciencedirect.com/science/article/abs/pii/S0164121223001486"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sciencedirect.com/science/article/abs/pii/S0950584923000290"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nchr.elsevierpure.com/en/publications/a-cloud-based-software-defect-prediction-system-using-data-and-de"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link.springer.com/article/10.1007/s13042-022-01740-2"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link.springer.com/article/10.1007/s11334-021-00427-1"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42553" y="3240112"/>
            <a:ext cx="17999075" cy="2058121"/>
          </a:xfrm>
        </p:spPr>
        <p:txBody>
          <a:bodyPr>
            <a:noAutofit/>
          </a:bodyPr>
          <a:lstStyle/>
          <a:p>
            <a:pPr algn="ctr"/>
            <a:r>
              <a:rPr lang="en-US" sz="6000" b="1" dirty="0">
                <a:solidFill>
                  <a:srgbClr val="000000"/>
                </a:solidFill>
                <a:latin typeface="Times New Roman" panose="02020603050405020304" pitchFamily="18" charset="0"/>
                <a:cs typeface="Times New Roman" panose="02020603050405020304" pitchFamily="18" charset="0"/>
              </a:rPr>
              <a:t>Software Defect Prediction Using an Intelligent Ensemble-Based Model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7200" b="1">
                <a:solidFill>
                  <a:srgbClr val="000000"/>
                </a:solidFill>
                <a:latin typeface="Times New Roman" panose="02020603050405020304" pitchFamily="18" charset="0"/>
                <a:cs typeface="Times New Roman" panose="02020603050405020304" pitchFamily="18" charset="0"/>
              </a:rPr>
              <a:t>ABSTRACT </a:t>
            </a:r>
          </a:p>
        </p:txBody>
      </p:sp>
      <p:sp>
        <p:nvSpPr>
          <p:cNvPr id="3" name="Content Placeholder 2"/>
          <p:cNvSpPr>
            <a:spLocks noGrp="1"/>
          </p:cNvSpPr>
          <p:nvPr>
            <p:ph sz="quarter" idx="1"/>
          </p:nvPr>
        </p:nvSpPr>
        <p:spPr>
          <a:xfrm>
            <a:off x="646609" y="2639060"/>
            <a:ext cx="16993888" cy="6331585"/>
          </a:xfrm>
        </p:spPr>
        <p:txBody>
          <a:bodyPr>
            <a:noAutofit/>
          </a:bodyPr>
          <a:lstStyle/>
          <a:p>
            <a:pPr algn="just">
              <a:lnSpc>
                <a:spcPct val="150000"/>
              </a:lnSpc>
              <a:buClr>
                <a:srgbClr val="0D0D0D"/>
              </a:buClr>
              <a:buSzPct val="100000"/>
              <a:buFont typeface="Wingdings" panose="05000000000000000000" charset="0"/>
              <a:buChar char="Ø"/>
            </a:pPr>
            <a:r>
              <a:rPr lang="en-US" sz="2000" dirty="0">
                <a:solidFill>
                  <a:srgbClr val="000000"/>
                </a:solidFill>
                <a:latin typeface="Times New Roman" panose="02020603050405020304" pitchFamily="18" charset="0"/>
                <a:cs typeface="Times New Roman" panose="02020603050405020304" pitchFamily="18" charset="0"/>
              </a:rPr>
              <a:t>Software defect prediction is vital for improving software quality and reducing testing costs by identifying defective modules before they reach the testing phase. This research introduces an intelligent ensemble-based software defect prediction model that combines diverse classifiers to enhance prediction accuracy. </a:t>
            </a:r>
          </a:p>
          <a:p>
            <a:pPr algn="just">
              <a:lnSpc>
                <a:spcPct val="150000"/>
              </a:lnSpc>
              <a:buClr>
                <a:srgbClr val="0D0D0D"/>
              </a:buClr>
              <a:buSzPct val="100000"/>
              <a:buFont typeface="Wingdings" panose="05000000000000000000" charset="0"/>
              <a:buChar char="Ø"/>
            </a:pPr>
            <a:r>
              <a:rPr lang="en-US" sz="2000" dirty="0">
                <a:solidFill>
                  <a:srgbClr val="000000"/>
                </a:solidFill>
                <a:latin typeface="Times New Roman" panose="02020603050405020304" pitchFamily="18" charset="0"/>
                <a:cs typeface="Times New Roman" panose="02020603050405020304" pitchFamily="18" charset="0"/>
              </a:rPr>
              <a:t>The proposed model utilizes a two-stage prediction process. In the first stage, four supervised machine learning algorithms—Random Forest, Support Vector Machine (SVM), Naïve Bayes, and Multi-Layer Perceptron (MLP)—are employed. These algorithms are optimized through iterative parameter optimization to achieve high accuracy. In the second stage, the individual classifiers' predictions are integrated into a voting ensemble to make the final predictions, further improving accuracy and reliability. </a:t>
            </a:r>
          </a:p>
          <a:p>
            <a:pPr algn="just">
              <a:lnSpc>
                <a:spcPct val="150000"/>
              </a:lnSpc>
              <a:buClr>
                <a:srgbClr val="0D0D0D"/>
              </a:buClr>
              <a:buSzPct val="100000"/>
              <a:buFont typeface="Wingdings" panose="05000000000000000000" charset="0"/>
              <a:buChar char="Ø"/>
            </a:pPr>
            <a:r>
              <a:rPr lang="en-US" sz="2000" dirty="0">
                <a:solidFill>
                  <a:srgbClr val="000000"/>
                </a:solidFill>
                <a:latin typeface="Times New Roman" panose="02020603050405020304" pitchFamily="18" charset="0"/>
                <a:cs typeface="Times New Roman" panose="02020603050405020304" pitchFamily="18" charset="0"/>
              </a:rPr>
              <a:t>The system was evaluated using seven historical defect datasets from the NASA MDP repository: CM1, JM1, MC2, MW1, PC1, PC3, and PC4. The intelligent ensemble system, which includes the Adaptive Voting Classifier (RF + SVM + NB + MLP), achieved notable results: 86.5% accuracy for CM1, 66% for JM1, 73.5% for MC2, 80.1% for MW1, 87% for PC1, 87.5% for PC3, and 90.4% for PC4. </a:t>
            </a:r>
          </a:p>
          <a:p>
            <a:pPr algn="just">
              <a:lnSpc>
                <a:spcPct val="150000"/>
              </a:lnSpc>
              <a:buClr>
                <a:srgbClr val="0D0D0D"/>
              </a:buClr>
              <a:buSzPct val="100000"/>
              <a:buFont typeface="Wingdings" panose="05000000000000000000" charset="0"/>
              <a:buChar char="Ø"/>
            </a:pPr>
            <a:r>
              <a:rPr lang="en-US" sz="2000" dirty="0">
                <a:solidFill>
                  <a:srgbClr val="000000"/>
                </a:solidFill>
                <a:latin typeface="Times New Roman" panose="02020603050405020304" pitchFamily="18" charset="0"/>
                <a:cs typeface="Times New Roman" panose="02020603050405020304" pitchFamily="18" charset="0"/>
              </a:rPr>
              <a:t>Additionally, the Stacking Classifier (DT + RF with LightGBM) was applied as an extension, which further enhanced performance with accuracies of 92.4% for CM1, 83.6% for JM1, 73.5% for MC2, 89.7% for MW1, 92.2% for PC1, 92.4% for PC3, and 93.5% for PC4. This research demonstrates that combining predictions from multiple individual models through ensemble techniques significantly improves defect prediction accuracy, with the Stacking Classifier achieving the highest performance across all datasets.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653823" y="72712"/>
            <a:ext cx="15620380" cy="1584327"/>
          </a:xfrm>
        </p:spPr>
        <p:txBody>
          <a:bodyPr>
            <a:normAutofit/>
          </a:bodyPr>
          <a:lstStyle/>
          <a:p>
            <a:pPr algn="ctr"/>
            <a:r>
              <a:rPr lang="en-US" sz="7200" b="1" dirty="0">
                <a:solidFill>
                  <a:srgbClr val="000000"/>
                </a:solidFill>
                <a:latin typeface="Times New Roman" panose="02020603050405020304" pitchFamily="18" charset="0"/>
                <a:cs typeface="Times New Roman" panose="02020603050405020304" pitchFamily="18" charset="0"/>
              </a:rPr>
              <a:t>INTRODUCTION</a:t>
            </a:r>
          </a:p>
        </p:txBody>
      </p:sp>
      <p:sp>
        <p:nvSpPr>
          <p:cNvPr id="3" name="Content Placeholder 2"/>
          <p:cNvSpPr>
            <a:spLocks noGrp="1"/>
          </p:cNvSpPr>
          <p:nvPr>
            <p:ph sz="quarter" idx="1"/>
          </p:nvPr>
        </p:nvSpPr>
        <p:spPr>
          <a:xfrm>
            <a:off x="1006649" y="2735905"/>
            <a:ext cx="16267554" cy="6337941"/>
          </a:xfrm>
        </p:spPr>
        <p:txBody>
          <a:bodyPr>
            <a:noAutofit/>
          </a:bodyPr>
          <a:lstStyle/>
          <a:p>
            <a:pPr algn="just">
              <a:lnSpc>
                <a:spcPct val="150000"/>
              </a:lnSpc>
              <a:spcBef>
                <a:spcPts val="100"/>
              </a:spcBef>
              <a:spcAft>
                <a:spcPts val="0"/>
              </a:spcAft>
              <a:buClr>
                <a:srgbClr val="0D0D0D"/>
              </a:buClr>
              <a:buSzPct val="100000"/>
              <a:buFont typeface="Wingdings" panose="05000000000000000000" charset="0"/>
              <a:buChar char="Ø"/>
            </a:pPr>
            <a:r>
              <a:rPr lang="en-US" sz="2200" dirty="0">
                <a:solidFill>
                  <a:srgbClr val="000000"/>
                </a:solidFill>
                <a:latin typeface="Times New Roman" panose="02020603050405020304" pitchFamily="18" charset="0"/>
                <a:cs typeface="Times New Roman" panose="02020603050405020304" pitchFamily="18" charset="0"/>
              </a:rPr>
              <a:t>Rapid globalization has transformed our world into a closely connected village where the software industry is crucial in driving progress. In this age of a digitally interconnected world, software applications have emerged as the lifeblood of our global society, forming the backbone of daily activities, businesses, and critical infrastructure. This influence has only intensified, particularly after the COVID-19 pandemic, which has accelerated our reliance on online systems for communication, commerce, and remote work. </a:t>
            </a:r>
          </a:p>
          <a:p>
            <a:pPr algn="just">
              <a:lnSpc>
                <a:spcPct val="150000"/>
              </a:lnSpc>
              <a:spcBef>
                <a:spcPts val="100"/>
              </a:spcBef>
              <a:spcAft>
                <a:spcPts val="0"/>
              </a:spcAft>
              <a:buClr>
                <a:srgbClr val="0D0D0D"/>
              </a:buClr>
              <a:buSzPct val="100000"/>
              <a:buFont typeface="Wingdings" panose="05000000000000000000" charset="0"/>
              <a:buChar char="Ø"/>
            </a:pPr>
            <a:r>
              <a:rPr lang="en-US" sz="2200" dirty="0">
                <a:solidFill>
                  <a:srgbClr val="000000"/>
                </a:solidFill>
                <a:latin typeface="Times New Roman" panose="02020603050405020304" pitchFamily="18" charset="0"/>
                <a:cs typeface="Times New Roman" panose="02020603050405020304" pitchFamily="18" charset="0"/>
              </a:rPr>
              <a:t>In a Software Development Life Cycle (SDLC), the work flow from the development team to the Quality Assurance (QA) team typically involves several stages. Initially, the development team implements the software code handed over to the QA team for testing. </a:t>
            </a:r>
          </a:p>
          <a:p>
            <a:pPr algn="just">
              <a:lnSpc>
                <a:spcPct val="150000"/>
              </a:lnSpc>
              <a:spcBef>
                <a:spcPts val="100"/>
              </a:spcBef>
              <a:spcAft>
                <a:spcPts val="0"/>
              </a:spcAft>
              <a:buClr>
                <a:srgbClr val="0D0D0D"/>
              </a:buClr>
              <a:buSzPct val="100000"/>
              <a:buFont typeface="Wingdings" panose="05000000000000000000" charset="0"/>
              <a:buChar char="Ø"/>
            </a:pPr>
            <a:r>
              <a:rPr lang="en-US" sz="2200" dirty="0">
                <a:solidFill>
                  <a:srgbClr val="000000"/>
                </a:solidFill>
                <a:latin typeface="Times New Roman" panose="02020603050405020304" pitchFamily="18" charset="0"/>
                <a:cs typeface="Times New Roman" panose="02020603050405020304" pitchFamily="18" charset="0"/>
              </a:rPr>
              <a:t>The QA team then rigorously evaluates the software, identifying and reporting defects or issues. The iterative feedback loop between development and QA continues until a high-quality, defect-free software product is achieved. The workflow from the Development-to-QA team in an SDLC. </a:t>
            </a:r>
          </a:p>
          <a:p>
            <a:pPr algn="just">
              <a:lnSpc>
                <a:spcPct val="150000"/>
              </a:lnSpc>
              <a:spcBef>
                <a:spcPts val="100"/>
              </a:spcBef>
              <a:spcAft>
                <a:spcPts val="0"/>
              </a:spcAft>
              <a:buClr>
                <a:srgbClr val="0D0D0D"/>
              </a:buClr>
              <a:buSzPct val="100000"/>
              <a:buFont typeface="Wingdings" panose="05000000000000000000" charset="0"/>
              <a:buChar char="Ø"/>
            </a:pPr>
            <a:r>
              <a:rPr lang="en-US" sz="2200" dirty="0">
                <a:solidFill>
                  <a:srgbClr val="000000"/>
                </a:solidFill>
                <a:latin typeface="Times New Roman" panose="02020603050405020304" pitchFamily="18" charset="0"/>
                <a:cs typeface="Times New Roman" panose="02020603050405020304" pitchFamily="18" charset="0"/>
              </a:rPr>
              <a:t>However, defect-free software is not without its challenges. Three critical factors that prominently influence software quality assurance are time, financial resources, and the availability of skilled manpower. The industry’s ever-growing demand necessitates formulating effective testing strategies to optimize these valuable resources while maintaining the highest software quality standards.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04877" y="154627"/>
            <a:ext cx="16111236" cy="1476376"/>
          </a:xfrm>
        </p:spPr>
        <p:txBody>
          <a:bodyPr>
            <a:normAutofit/>
          </a:bodyPr>
          <a:lstStyle/>
          <a:p>
            <a:pPr algn="ctr"/>
            <a:r>
              <a:rPr lang="en-US" sz="7200" b="1" dirty="0">
                <a:solidFill>
                  <a:srgbClr val="000000"/>
                </a:solidFill>
                <a:latin typeface="Times New Roman" panose="02020603050405020304" pitchFamily="18" charset="0"/>
                <a:cs typeface="Times New Roman" panose="02020603050405020304" pitchFamily="18" charset="0"/>
              </a:rPr>
              <a:t>OBJECTIVE</a:t>
            </a:r>
          </a:p>
        </p:txBody>
      </p:sp>
      <p:sp>
        <p:nvSpPr>
          <p:cNvPr id="3" name="Content Placeholder 2"/>
          <p:cNvSpPr>
            <a:spLocks noGrp="1"/>
          </p:cNvSpPr>
          <p:nvPr>
            <p:ph sz="quarter" idx="1"/>
          </p:nvPr>
        </p:nvSpPr>
        <p:spPr>
          <a:xfrm>
            <a:off x="2796189" y="2540960"/>
            <a:ext cx="13490588" cy="6419221"/>
          </a:xfrm>
        </p:spPr>
        <p:txBody>
          <a:bodyPr>
            <a:noAutofit/>
          </a:bodyPr>
          <a:lstStyle/>
          <a:p>
            <a:pPr algn="just">
              <a:lnSpc>
                <a:spcPct val="150000"/>
              </a:lnSpc>
              <a:buClr>
                <a:srgbClr val="0D0D0D"/>
              </a:buClr>
              <a:buSzPct val="100000"/>
              <a:buFont typeface="Wingdings" panose="05000000000000000000" charset="0"/>
              <a:buChar char="Ø"/>
            </a:pPr>
            <a:r>
              <a:rPr lang="en-US" sz="3200" dirty="0">
                <a:solidFill>
                  <a:srgbClr val="000000"/>
                </a:solidFill>
                <a:latin typeface="Times New Roman" panose="02020603050405020304" pitchFamily="18" charset="0"/>
                <a:cs typeface="Times New Roman" panose="02020603050405020304" pitchFamily="18" charset="0"/>
              </a:rPr>
              <a:t>The objective of this research is to develop an advanced software defect prediction model by integrating diverse classifiers into a robust ensemble approach. </a:t>
            </a:r>
          </a:p>
          <a:p>
            <a:pPr algn="just">
              <a:lnSpc>
                <a:spcPct val="150000"/>
              </a:lnSpc>
              <a:buClr>
                <a:srgbClr val="0D0D0D"/>
              </a:buClr>
              <a:buSzPct val="100000"/>
              <a:buFont typeface="Wingdings" panose="05000000000000000000" charset="0"/>
              <a:buChar char="Ø"/>
            </a:pPr>
            <a:r>
              <a:rPr lang="en-US" sz="3200" dirty="0">
                <a:solidFill>
                  <a:srgbClr val="000000"/>
                </a:solidFill>
                <a:latin typeface="Times New Roman" panose="02020603050405020304" pitchFamily="18" charset="0"/>
                <a:cs typeface="Times New Roman" panose="02020603050405020304" pitchFamily="18" charset="0"/>
              </a:rPr>
              <a:t>The model employs four primary supervised machine learning algorithms—Random Forest, Support Vector Machine (SVM), Naïve Bayes, and Multi-Layer Perceptron (MLP)—optimized for accuracy. Additionally, a voting ensemble combines these classifiers for enhanced prediction reliability. </a:t>
            </a:r>
          </a:p>
          <a:p>
            <a:pPr algn="just">
              <a:lnSpc>
                <a:spcPct val="150000"/>
              </a:lnSpc>
              <a:buClr>
                <a:srgbClr val="0D0D0D"/>
              </a:buClr>
              <a:buSzPct val="100000"/>
              <a:buFont typeface="Wingdings" panose="05000000000000000000" charset="0"/>
              <a:buChar char="Ø"/>
            </a:pPr>
            <a:r>
              <a:rPr lang="en-US" sz="3200" dirty="0">
                <a:solidFill>
                  <a:srgbClr val="000000"/>
                </a:solidFill>
                <a:latin typeface="Times New Roman" panose="02020603050405020304" pitchFamily="18" charset="0"/>
                <a:cs typeface="Times New Roman" panose="02020603050405020304" pitchFamily="18" charset="0"/>
              </a:rPr>
              <a:t>An extension of the research explores further improvement using a Stacking Classifier incorporating Decision Trees and Random Forest with LightGBM.</a:t>
            </a:r>
            <a:endParaRPr lang="en-US" sz="12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Content Placeholder 2"/>
          <p:cNvSpPr>
            <a:spLocks noGrp="1"/>
          </p:cNvSpPr>
          <p:nvPr>
            <p:ph sz="quarter" idx="1"/>
          </p:nvPr>
        </p:nvSpPr>
        <p:spPr/>
        <p:txBody>
          <a:bodyPr>
            <a:noAutofit/>
          </a:bodyPr>
          <a:lstStyle/>
          <a:p>
            <a:pPr algn="just">
              <a:lnSpc>
                <a:spcPct val="170000"/>
              </a:lnSpc>
            </a:pPr>
            <a:r>
              <a:rPr lang="en-US" sz="2400" dirty="0">
                <a:solidFill>
                  <a:srgbClr val="000000"/>
                </a:solidFill>
                <a:latin typeface="Times New Roman" pitchFamily="18" charset="0"/>
                <a:cs typeface="Times New Roman" pitchFamily="18" charset="0"/>
              </a:rPr>
              <a:t>Inaccurate defect prediction arises from the challenge of identifying faulty software modules before testing, often due to limitations in traditional prediction models and varying data characteristics.</a:t>
            </a:r>
          </a:p>
          <a:p>
            <a:pPr algn="just">
              <a:lnSpc>
                <a:spcPct val="170000"/>
              </a:lnSpc>
            </a:pPr>
            <a:r>
              <a:rPr lang="en-US" sz="2400" dirty="0">
                <a:solidFill>
                  <a:srgbClr val="000000"/>
                </a:solidFill>
                <a:latin typeface="Times New Roman" pitchFamily="18" charset="0"/>
                <a:cs typeface="Times New Roman" pitchFamily="18" charset="0"/>
              </a:rPr>
              <a:t>Software defect prediction has traditionally relied on basic models that may not handle diverse datasets or complex patterns effectively, leading to inefficiencies in catching defects early in the development cycle.</a:t>
            </a:r>
          </a:p>
          <a:p>
            <a:pPr algn="just">
              <a:lnSpc>
                <a:spcPct val="170000"/>
              </a:lnSpc>
            </a:pPr>
            <a:r>
              <a:rPr lang="en-US" sz="2400" dirty="0">
                <a:solidFill>
                  <a:srgbClr val="000000"/>
                </a:solidFill>
                <a:latin typeface="Times New Roman" pitchFamily="18" charset="0"/>
                <a:cs typeface="Times New Roman" pitchFamily="18" charset="0"/>
              </a:rPr>
              <a:t>Developers and quality assurance teams are directly affected, facing increased costs and delayed releases due to ineffective defect detection methods, impacting project timelines and overall software quality.</a:t>
            </a:r>
          </a:p>
          <a:p>
            <a:pPr algn="just">
              <a:lnSpc>
                <a:spcPct val="170000"/>
              </a:lnSpc>
            </a:pPr>
            <a:r>
              <a:rPr lang="en-US" sz="2400" dirty="0">
                <a:solidFill>
                  <a:srgbClr val="000000"/>
                </a:solidFill>
                <a:latin typeface="Times New Roman" pitchFamily="18" charset="0"/>
                <a:cs typeface="Times New Roman" pitchFamily="18" charset="0"/>
              </a:rPr>
              <a:t>Inefficient defect prediction can lead to increased software maintenance costs, reduced customer satisfaction, and potential security vulnerabilities, affecting end-users and stakeholders due to faulty or unreliable software.</a:t>
            </a:r>
          </a:p>
          <a:p>
            <a:pPr algn="just">
              <a:lnSpc>
                <a:spcPct val="170000"/>
              </a:lnSpc>
            </a:pPr>
            <a:r>
              <a:rPr lang="en-US" sz="2400" dirty="0">
                <a:solidFill>
                  <a:srgbClr val="000000"/>
                </a:solidFill>
                <a:latin typeface="Times New Roman" pitchFamily="18" charset="0"/>
                <a:cs typeface="Times New Roman" pitchFamily="18" charset="0"/>
              </a:rPr>
              <a:t>To address these issues, we propose an intelligent ensemble-based model combining Random Forest, SVM, Naïve Bayes, MLP, and advanced ensemble techniques to enhance defect prediction accuracy and reliability across diverse datasets.</a:t>
            </a:r>
          </a:p>
        </p:txBody>
      </p:sp>
      <p:sp>
        <p:nvSpPr>
          <p:cNvPr id="4" name="Title 1"/>
          <p:cNvSpPr>
            <a:spLocks noGrp="1"/>
          </p:cNvSpPr>
          <p:nvPr>
            <p:ph type="title"/>
          </p:nvPr>
        </p:nvSpPr>
        <p:spPr/>
        <p:txBody>
          <a:bodyPr>
            <a:normAutofit/>
          </a:bodyPr>
          <a:lstStyle/>
          <a:p>
            <a:pPr algn="ctr"/>
            <a:r>
              <a:rPr lang="en-US" sz="7200" b="1" dirty="0">
                <a:solidFill>
                  <a:srgbClr val="000000"/>
                </a:solidFill>
                <a:latin typeface="Times New Roman" panose="02020603050405020304" pitchFamily="18" charset="0"/>
                <a:cs typeface="Times New Roman" panose="02020603050405020304" pitchFamily="18" charset="0"/>
              </a:rPr>
              <a:t>PROBLEM STATEMENT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73080" y="301940"/>
            <a:ext cx="15289968" cy="1296576"/>
          </a:xfrm>
        </p:spPr>
        <p:txBody>
          <a:bodyPr/>
          <a:lstStyle/>
          <a:p>
            <a:pPr algn="ctr"/>
            <a:r>
              <a:rPr lang="en-US" sz="7066" dirty="0">
                <a:solidFill>
                  <a:srgbClr val="000000"/>
                </a:solidFill>
                <a:latin typeface="Times New Roman" pitchFamily="18" charset="0"/>
                <a:cs typeface="Times New Roman" pitchFamily="18" charset="0"/>
              </a:rPr>
              <a:t>LITERATURE SURVEY</a:t>
            </a:r>
            <a:endParaRPr lang="en-US" dirty="0">
              <a:solidFill>
                <a:schemeClr val="tx1"/>
              </a:solidFill>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979468722"/>
              </p:ext>
            </p:extLst>
          </p:nvPr>
        </p:nvGraphicFramePr>
        <p:xfrm>
          <a:off x="574601" y="2448024"/>
          <a:ext cx="16773925" cy="7226911"/>
        </p:xfrm>
        <a:graphic>
          <a:graphicData uri="http://schemas.openxmlformats.org/drawingml/2006/table">
            <a:tbl>
              <a:tblPr firstRow="1" bandRow="1">
                <a:tableStyleId>{69C7853C-536D-4A76-A0AE-DD22124D55A5}</a:tableStyleId>
              </a:tblPr>
              <a:tblGrid>
                <a:gridCol w="2365554">
                  <a:extLst>
                    <a:ext uri="{9D8B030D-6E8A-4147-A177-3AD203B41FA5}">
                      <a16:colId xmlns:a16="http://schemas.microsoft.com/office/drawing/2014/main" val="344574373"/>
                    </a:ext>
                  </a:extLst>
                </a:gridCol>
                <a:gridCol w="2078819">
                  <a:extLst>
                    <a:ext uri="{9D8B030D-6E8A-4147-A177-3AD203B41FA5}">
                      <a16:colId xmlns:a16="http://schemas.microsoft.com/office/drawing/2014/main" val="4082353162"/>
                    </a:ext>
                  </a:extLst>
                </a:gridCol>
                <a:gridCol w="3329531">
                  <a:extLst>
                    <a:ext uri="{9D8B030D-6E8A-4147-A177-3AD203B41FA5}">
                      <a16:colId xmlns:a16="http://schemas.microsoft.com/office/drawing/2014/main" val="3049379202"/>
                    </a:ext>
                  </a:extLst>
                </a:gridCol>
                <a:gridCol w="3570848">
                  <a:extLst>
                    <a:ext uri="{9D8B030D-6E8A-4147-A177-3AD203B41FA5}">
                      <a16:colId xmlns:a16="http://schemas.microsoft.com/office/drawing/2014/main" val="3466224569"/>
                    </a:ext>
                  </a:extLst>
                </a:gridCol>
                <a:gridCol w="3363564">
                  <a:extLst>
                    <a:ext uri="{9D8B030D-6E8A-4147-A177-3AD203B41FA5}">
                      <a16:colId xmlns:a16="http://schemas.microsoft.com/office/drawing/2014/main" val="4020165895"/>
                    </a:ext>
                  </a:extLst>
                </a:gridCol>
                <a:gridCol w="2065609">
                  <a:extLst>
                    <a:ext uri="{9D8B030D-6E8A-4147-A177-3AD203B41FA5}">
                      <a16:colId xmlns:a16="http://schemas.microsoft.com/office/drawing/2014/main" val="4145134274"/>
                    </a:ext>
                  </a:extLst>
                </a:gridCol>
              </a:tblGrid>
              <a:tr h="847084">
                <a:tc>
                  <a:txBody>
                    <a:bodyPr/>
                    <a:lstStyle/>
                    <a:p>
                      <a:pPr algn="ctr"/>
                      <a:r>
                        <a:rPr lang="en-US" sz="3500" dirty="0">
                          <a:latin typeface="Times New Roman" panose="02020603050405020304" pitchFamily="18" charset="0"/>
                          <a:cs typeface="Times New Roman" panose="02020603050405020304" pitchFamily="18" charset="0"/>
                        </a:rPr>
                        <a:t>Title</a:t>
                      </a:r>
                      <a:endParaRPr lang="en-IN" sz="3500" dirty="0">
                        <a:solidFill>
                          <a:srgbClr val="FFC000"/>
                        </a:solidFill>
                        <a:latin typeface="Times New Roman" panose="02020603050405020304" pitchFamily="18" charset="0"/>
                        <a:cs typeface="Times New Roman" panose="02020603050405020304" pitchFamily="18" charset="0"/>
                      </a:endParaRPr>
                    </a:p>
                  </a:txBody>
                  <a:tcPr marL="89764" marR="89764" marT="44884" marB="44884"/>
                </a:tc>
                <a:tc>
                  <a:txBody>
                    <a:bodyPr/>
                    <a:lstStyle/>
                    <a:p>
                      <a:pPr algn="ctr"/>
                      <a:r>
                        <a:rPr lang="en-US" sz="3500" dirty="0">
                          <a:latin typeface="Times New Roman" panose="02020603050405020304" pitchFamily="18" charset="0"/>
                          <a:cs typeface="Times New Roman" panose="02020603050405020304" pitchFamily="18" charset="0"/>
                        </a:rPr>
                        <a:t>Author</a:t>
                      </a:r>
                      <a:endParaRPr lang="en-IN" sz="3500" dirty="0">
                        <a:solidFill>
                          <a:srgbClr val="FFC000"/>
                        </a:solidFill>
                        <a:latin typeface="Times New Roman" panose="02020603050405020304" pitchFamily="18" charset="0"/>
                        <a:cs typeface="Times New Roman" panose="02020603050405020304" pitchFamily="18" charset="0"/>
                      </a:endParaRPr>
                    </a:p>
                  </a:txBody>
                  <a:tcPr marL="89764" marR="89764" marT="44884" marB="44884"/>
                </a:tc>
                <a:tc>
                  <a:txBody>
                    <a:bodyPr/>
                    <a:lstStyle/>
                    <a:p>
                      <a:pPr algn="ctr"/>
                      <a:r>
                        <a:rPr lang="en-US" sz="3500" dirty="0">
                          <a:latin typeface="Times New Roman" panose="02020603050405020304" pitchFamily="18" charset="0"/>
                          <a:cs typeface="Times New Roman" panose="02020603050405020304" pitchFamily="18" charset="0"/>
                        </a:rPr>
                        <a:t>Methodology</a:t>
                      </a:r>
                      <a:endParaRPr lang="en-IN" sz="3500" dirty="0">
                        <a:solidFill>
                          <a:srgbClr val="FFC000"/>
                        </a:solidFill>
                        <a:latin typeface="Times New Roman" panose="02020603050405020304" pitchFamily="18" charset="0"/>
                        <a:cs typeface="Times New Roman" panose="02020603050405020304" pitchFamily="18" charset="0"/>
                      </a:endParaRPr>
                    </a:p>
                  </a:txBody>
                  <a:tcPr marL="89764" marR="89764" marT="44884" marB="44884"/>
                </a:tc>
                <a:tc>
                  <a:txBody>
                    <a:bodyPr/>
                    <a:lstStyle/>
                    <a:p>
                      <a:pPr algn="ctr"/>
                      <a:r>
                        <a:rPr lang="en-US" sz="3500" dirty="0">
                          <a:latin typeface="Times New Roman" panose="02020603050405020304" pitchFamily="18" charset="0"/>
                          <a:cs typeface="Times New Roman" panose="02020603050405020304" pitchFamily="18" charset="0"/>
                        </a:rPr>
                        <a:t>Drawbacks</a:t>
                      </a:r>
                      <a:endParaRPr lang="en-IN" sz="3500" dirty="0">
                        <a:solidFill>
                          <a:srgbClr val="FFC000"/>
                        </a:solidFill>
                        <a:latin typeface="Times New Roman" panose="02020603050405020304" pitchFamily="18" charset="0"/>
                        <a:cs typeface="Times New Roman" panose="02020603050405020304" pitchFamily="18" charset="0"/>
                      </a:endParaRPr>
                    </a:p>
                  </a:txBody>
                  <a:tcPr marL="89764" marR="89764" marT="44884" marB="44884"/>
                </a:tc>
                <a:tc>
                  <a:txBody>
                    <a:bodyPr/>
                    <a:lstStyle/>
                    <a:p>
                      <a:pPr algn="ctr"/>
                      <a:r>
                        <a:rPr lang="en-US" sz="3500" dirty="0">
                          <a:latin typeface="Times New Roman" panose="02020603050405020304" pitchFamily="18" charset="0"/>
                          <a:cs typeface="Times New Roman" panose="02020603050405020304" pitchFamily="18" charset="0"/>
                        </a:rPr>
                        <a:t>Result</a:t>
                      </a:r>
                      <a:endParaRPr lang="en-IN" sz="3500" dirty="0">
                        <a:solidFill>
                          <a:srgbClr val="FFC000"/>
                        </a:solidFill>
                        <a:latin typeface="Times New Roman" panose="02020603050405020304" pitchFamily="18" charset="0"/>
                        <a:cs typeface="Times New Roman" panose="02020603050405020304" pitchFamily="18" charset="0"/>
                      </a:endParaRPr>
                    </a:p>
                  </a:txBody>
                  <a:tcPr marL="89764" marR="89764" marT="44884" marB="44884"/>
                </a:tc>
                <a:tc>
                  <a:txBody>
                    <a:bodyPr/>
                    <a:lstStyle/>
                    <a:p>
                      <a:pPr algn="ctr"/>
                      <a:r>
                        <a:rPr lang="en-US" sz="3500" dirty="0">
                          <a:latin typeface="Times New Roman" panose="02020603050405020304" pitchFamily="18" charset="0"/>
                          <a:cs typeface="Times New Roman" panose="02020603050405020304" pitchFamily="18" charset="0"/>
                        </a:rPr>
                        <a:t>Link</a:t>
                      </a:r>
                      <a:endParaRPr lang="en-IN" sz="3500" dirty="0">
                        <a:solidFill>
                          <a:srgbClr val="FFC000"/>
                        </a:solidFill>
                        <a:latin typeface="Times New Roman" panose="02020603050405020304" pitchFamily="18" charset="0"/>
                        <a:cs typeface="Times New Roman" panose="02020603050405020304" pitchFamily="18" charset="0"/>
                      </a:endParaRPr>
                    </a:p>
                  </a:txBody>
                  <a:tcPr marL="89764" marR="89764" marT="44884" marB="44884"/>
                </a:tc>
                <a:extLst>
                  <a:ext uri="{0D108BD9-81ED-4DB2-BD59-A6C34878D82A}">
                    <a16:rowId xmlns:a16="http://schemas.microsoft.com/office/drawing/2014/main" val="1983519955"/>
                  </a:ext>
                </a:extLst>
              </a:tr>
              <a:tr h="6379827">
                <a:tc>
                  <a:txBody>
                    <a:bodyPr/>
                    <a:lstStyle/>
                    <a:p>
                      <a:pPr>
                        <a:lnSpc>
                          <a:spcPct val="150000"/>
                        </a:lnSpc>
                      </a:pPr>
                      <a:r>
                        <a:rPr lang="en-US" sz="2400" dirty="0">
                          <a:latin typeface="Times New Roman" panose="02020603050405020304" pitchFamily="18" charset="0"/>
                          <a:cs typeface="Times New Roman" panose="02020603050405020304" pitchFamily="18" charset="0"/>
                        </a:rPr>
                        <a:t>Semantic feature learning for software defect prediction from source code and external knowledge</a:t>
                      </a:r>
                      <a:endParaRPr lang="en-IN" sz="2400" dirty="0">
                        <a:solidFill>
                          <a:schemeClr val="bg1"/>
                        </a:solidFill>
                        <a:latin typeface="Times New Roman" panose="02020603050405020304" pitchFamily="18" charset="0"/>
                        <a:cs typeface="Times New Roman" panose="02020603050405020304" pitchFamily="18" charset="0"/>
                      </a:endParaRPr>
                    </a:p>
                  </a:txBody>
                  <a:tcPr marL="89764" marR="89764" marT="44884" marB="44884"/>
                </a:tc>
                <a:tc>
                  <a:txBody>
                    <a:bodyPr/>
                    <a:lstStyle/>
                    <a:p>
                      <a:pPr>
                        <a:lnSpc>
                          <a:spcPct val="150000"/>
                        </a:lnSpc>
                      </a:pPr>
                      <a:r>
                        <a:rPr lang="en-US" sz="2400" dirty="0">
                          <a:latin typeface="Times New Roman" panose="02020603050405020304" pitchFamily="18" charset="0"/>
                          <a:cs typeface="Times New Roman" panose="02020603050405020304" pitchFamily="18" charset="0"/>
                        </a:rPr>
                        <a:t>J. Liu, J. Ai, M. Lu, J. Wang, and H. Shi</a:t>
                      </a:r>
                      <a:endParaRPr lang="en-IN" sz="2400" dirty="0">
                        <a:solidFill>
                          <a:schemeClr val="bg1"/>
                        </a:solidFill>
                        <a:latin typeface="Times New Roman" panose="02020603050405020304" pitchFamily="18" charset="0"/>
                        <a:cs typeface="Times New Roman" panose="02020603050405020304" pitchFamily="18" charset="0"/>
                      </a:endParaRPr>
                    </a:p>
                  </a:txBody>
                  <a:tcPr marL="89764" marR="89764" marT="44884" marB="44884"/>
                </a:tc>
                <a:tc>
                  <a:txBody>
                    <a:bodyPr/>
                    <a:lstStyle/>
                    <a:p>
                      <a:pPr>
                        <a:lnSpc>
                          <a:spcPct val="150000"/>
                        </a:lnSpc>
                      </a:pPr>
                      <a:r>
                        <a:rPr lang="en-US" sz="2400" dirty="0">
                          <a:latin typeface="Times New Roman" panose="02020603050405020304" pitchFamily="18" charset="0"/>
                          <a:cs typeface="Times New Roman" panose="02020603050405020304" pitchFamily="18" charset="0"/>
                        </a:rPr>
                        <a:t>The study combines source code with natural language features (comments and commit messages) using a Transformer-based model, PM2-CNN, and a multi-channel CNN classifier to predict software defects more effectively.</a:t>
                      </a:r>
                      <a:endParaRPr lang="en-IN" sz="2400" dirty="0">
                        <a:solidFill>
                          <a:schemeClr val="bg1"/>
                        </a:solidFill>
                        <a:latin typeface="Times New Roman" panose="02020603050405020304" pitchFamily="18" charset="0"/>
                        <a:cs typeface="Times New Roman" panose="02020603050405020304" pitchFamily="18" charset="0"/>
                      </a:endParaRPr>
                    </a:p>
                  </a:txBody>
                  <a:tcPr marL="89764" marR="89764" marT="44884" marB="44884"/>
                </a:tc>
                <a:tc>
                  <a:txBody>
                    <a:bodyPr/>
                    <a:lstStyle/>
                    <a:p>
                      <a:pPr>
                        <a:lnSpc>
                          <a:spcPct val="150000"/>
                        </a:lnSpc>
                      </a:pPr>
                      <a:r>
                        <a:rPr lang="en-US" sz="2400" dirty="0">
                          <a:latin typeface="Times New Roman" panose="02020603050405020304" pitchFamily="18" charset="0"/>
                          <a:cs typeface="Times New Roman" panose="02020603050405020304" pitchFamily="18" charset="0"/>
                        </a:rPr>
                        <a:t>The method may require significant computational resources due to its use of Transformer architecture and multi-channel CNNs. Additionally, performance improvements may be limited by the quality of external information extracted.</a:t>
                      </a:r>
                      <a:endParaRPr lang="en-IN" sz="2400" dirty="0">
                        <a:solidFill>
                          <a:schemeClr val="bg1"/>
                        </a:solidFill>
                        <a:latin typeface="Times New Roman" panose="02020603050405020304" pitchFamily="18" charset="0"/>
                        <a:cs typeface="Times New Roman" panose="02020603050405020304" pitchFamily="18" charset="0"/>
                      </a:endParaRPr>
                    </a:p>
                  </a:txBody>
                  <a:tcPr marL="89764" marR="89764" marT="44884" marB="44884"/>
                </a:tc>
                <a:tc>
                  <a:txBody>
                    <a:bodyPr/>
                    <a:lstStyle/>
                    <a:p>
                      <a:pPr>
                        <a:lnSpc>
                          <a:spcPct val="150000"/>
                        </a:lnSpc>
                      </a:pPr>
                      <a:r>
                        <a:rPr lang="en-US" sz="2400" dirty="0">
                          <a:latin typeface="Times New Roman" panose="02020603050405020304" pitchFamily="18" charset="0"/>
                          <a:cs typeface="Times New Roman" panose="02020603050405020304" pitchFamily="18" charset="0"/>
                        </a:rPr>
                        <a:t>The proposed PM2-CNN model outperformed baseline methods in software defect prediction, demonstrating the value of incorporating external information like code comments and commit messages to enhance model performance.</a:t>
                      </a:r>
                      <a:endParaRPr lang="en-IN" sz="2400" dirty="0">
                        <a:solidFill>
                          <a:schemeClr val="bg1"/>
                        </a:solidFill>
                        <a:latin typeface="Times New Roman" panose="02020603050405020304" pitchFamily="18" charset="0"/>
                        <a:cs typeface="Times New Roman" panose="02020603050405020304" pitchFamily="18" charset="0"/>
                      </a:endParaRPr>
                    </a:p>
                  </a:txBody>
                  <a:tcPr marL="89764" marR="89764" marT="44884" marB="44884"/>
                </a:tc>
                <a:tc>
                  <a:txBody>
                    <a:bodyPr/>
                    <a:lstStyle/>
                    <a:p>
                      <a:pPr>
                        <a:lnSpc>
                          <a:spcPct val="150000"/>
                        </a:lnSpc>
                      </a:pPr>
                      <a:r>
                        <a:rPr lang="en-IN" sz="2400" dirty="0">
                          <a:latin typeface="Times New Roman" panose="02020603050405020304" pitchFamily="18" charset="0"/>
                          <a:cs typeface="Times New Roman" panose="02020603050405020304" pitchFamily="18" charset="0"/>
                          <a:hlinkClick r:id="rId2"/>
                        </a:rPr>
                        <a:t>https://www.sciencedirect.com/science/article/abs/pii/S0164121223001486</a:t>
                      </a:r>
                      <a:r>
                        <a:rPr lang="en-IN" sz="2400" dirty="0">
                          <a:latin typeface="Times New Roman" panose="02020603050405020304" pitchFamily="18" charset="0"/>
                          <a:cs typeface="Times New Roman" panose="02020603050405020304" pitchFamily="18" charset="0"/>
                        </a:rPr>
                        <a:t> </a:t>
                      </a:r>
                      <a:endParaRPr lang="en-IN" sz="2400" dirty="0">
                        <a:solidFill>
                          <a:schemeClr val="bg1"/>
                        </a:solidFill>
                        <a:latin typeface="Times New Roman" panose="02020603050405020304" pitchFamily="18" charset="0"/>
                        <a:cs typeface="Times New Roman" panose="02020603050405020304" pitchFamily="18" charset="0"/>
                      </a:endParaRPr>
                    </a:p>
                  </a:txBody>
                  <a:tcPr marL="89764" marR="89764" marT="44884" marB="44884"/>
                </a:tc>
                <a:extLst>
                  <a:ext uri="{0D108BD9-81ED-4DB2-BD59-A6C34878D82A}">
                    <a16:rowId xmlns:a16="http://schemas.microsoft.com/office/drawing/2014/main" val="1790775321"/>
                  </a:ext>
                </a:extLst>
              </a:tr>
            </a:tbl>
          </a:graphicData>
        </a:graphic>
      </p:graphicFrame>
    </p:spTree>
    <p:extLst>
      <p:ext uri="{BB962C8B-B14F-4D97-AF65-F5344CB8AC3E}">
        <p14:creationId xmlns:p14="http://schemas.microsoft.com/office/powerpoint/2010/main" val="24162114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73080" y="301940"/>
            <a:ext cx="15289968" cy="1296576"/>
          </a:xfrm>
        </p:spPr>
        <p:txBody>
          <a:bodyPr/>
          <a:lstStyle/>
          <a:p>
            <a:pPr algn="ctr"/>
            <a:r>
              <a:rPr lang="en-US" sz="7066" dirty="0">
                <a:solidFill>
                  <a:srgbClr val="000000"/>
                </a:solidFill>
                <a:latin typeface="Times New Roman" pitchFamily="18" charset="0"/>
                <a:cs typeface="Times New Roman" pitchFamily="18" charset="0"/>
              </a:rPr>
              <a:t>LITERATURE SURVEY</a:t>
            </a:r>
            <a:endParaRPr lang="en-US" dirty="0">
              <a:solidFill>
                <a:schemeClr val="tx1"/>
              </a:solidFill>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263934422"/>
              </p:ext>
            </p:extLst>
          </p:nvPr>
        </p:nvGraphicFramePr>
        <p:xfrm>
          <a:off x="574601" y="2448024"/>
          <a:ext cx="16773925" cy="7226911"/>
        </p:xfrm>
        <a:graphic>
          <a:graphicData uri="http://schemas.openxmlformats.org/drawingml/2006/table">
            <a:tbl>
              <a:tblPr firstRow="1" bandRow="1">
                <a:tableStyleId>{69C7853C-536D-4A76-A0AE-DD22124D55A5}</a:tableStyleId>
              </a:tblPr>
              <a:tblGrid>
                <a:gridCol w="2365554">
                  <a:extLst>
                    <a:ext uri="{9D8B030D-6E8A-4147-A177-3AD203B41FA5}">
                      <a16:colId xmlns:a16="http://schemas.microsoft.com/office/drawing/2014/main" val="344574373"/>
                    </a:ext>
                  </a:extLst>
                </a:gridCol>
                <a:gridCol w="2078819">
                  <a:extLst>
                    <a:ext uri="{9D8B030D-6E8A-4147-A177-3AD203B41FA5}">
                      <a16:colId xmlns:a16="http://schemas.microsoft.com/office/drawing/2014/main" val="4082353162"/>
                    </a:ext>
                  </a:extLst>
                </a:gridCol>
                <a:gridCol w="3329531">
                  <a:extLst>
                    <a:ext uri="{9D8B030D-6E8A-4147-A177-3AD203B41FA5}">
                      <a16:colId xmlns:a16="http://schemas.microsoft.com/office/drawing/2014/main" val="3049379202"/>
                    </a:ext>
                  </a:extLst>
                </a:gridCol>
                <a:gridCol w="3570848">
                  <a:extLst>
                    <a:ext uri="{9D8B030D-6E8A-4147-A177-3AD203B41FA5}">
                      <a16:colId xmlns:a16="http://schemas.microsoft.com/office/drawing/2014/main" val="3466224569"/>
                    </a:ext>
                  </a:extLst>
                </a:gridCol>
                <a:gridCol w="3363564">
                  <a:extLst>
                    <a:ext uri="{9D8B030D-6E8A-4147-A177-3AD203B41FA5}">
                      <a16:colId xmlns:a16="http://schemas.microsoft.com/office/drawing/2014/main" val="4020165895"/>
                    </a:ext>
                  </a:extLst>
                </a:gridCol>
                <a:gridCol w="2065609">
                  <a:extLst>
                    <a:ext uri="{9D8B030D-6E8A-4147-A177-3AD203B41FA5}">
                      <a16:colId xmlns:a16="http://schemas.microsoft.com/office/drawing/2014/main" val="4145134274"/>
                    </a:ext>
                  </a:extLst>
                </a:gridCol>
              </a:tblGrid>
              <a:tr h="847084">
                <a:tc>
                  <a:txBody>
                    <a:bodyPr/>
                    <a:lstStyle/>
                    <a:p>
                      <a:pPr algn="ctr"/>
                      <a:r>
                        <a:rPr lang="en-US" sz="3500" dirty="0">
                          <a:latin typeface="Times New Roman" panose="02020603050405020304" pitchFamily="18" charset="0"/>
                          <a:cs typeface="Times New Roman" panose="02020603050405020304" pitchFamily="18" charset="0"/>
                        </a:rPr>
                        <a:t>Title</a:t>
                      </a:r>
                      <a:endParaRPr lang="en-IN" sz="3500" dirty="0">
                        <a:solidFill>
                          <a:srgbClr val="FFC000"/>
                        </a:solidFill>
                        <a:latin typeface="Times New Roman" panose="02020603050405020304" pitchFamily="18" charset="0"/>
                        <a:cs typeface="Times New Roman" panose="02020603050405020304" pitchFamily="18" charset="0"/>
                      </a:endParaRPr>
                    </a:p>
                  </a:txBody>
                  <a:tcPr marL="89764" marR="89764" marT="44884" marB="44884"/>
                </a:tc>
                <a:tc>
                  <a:txBody>
                    <a:bodyPr/>
                    <a:lstStyle/>
                    <a:p>
                      <a:pPr algn="ctr"/>
                      <a:r>
                        <a:rPr lang="en-US" sz="3500" dirty="0">
                          <a:latin typeface="Times New Roman" panose="02020603050405020304" pitchFamily="18" charset="0"/>
                          <a:cs typeface="Times New Roman" panose="02020603050405020304" pitchFamily="18" charset="0"/>
                        </a:rPr>
                        <a:t>Author</a:t>
                      </a:r>
                      <a:endParaRPr lang="en-IN" sz="3500" dirty="0">
                        <a:solidFill>
                          <a:srgbClr val="FFC000"/>
                        </a:solidFill>
                        <a:latin typeface="Times New Roman" panose="02020603050405020304" pitchFamily="18" charset="0"/>
                        <a:cs typeface="Times New Roman" panose="02020603050405020304" pitchFamily="18" charset="0"/>
                      </a:endParaRPr>
                    </a:p>
                  </a:txBody>
                  <a:tcPr marL="89764" marR="89764" marT="44884" marB="44884"/>
                </a:tc>
                <a:tc>
                  <a:txBody>
                    <a:bodyPr/>
                    <a:lstStyle/>
                    <a:p>
                      <a:pPr algn="ctr"/>
                      <a:r>
                        <a:rPr lang="en-US" sz="3500" dirty="0">
                          <a:latin typeface="Times New Roman" panose="02020603050405020304" pitchFamily="18" charset="0"/>
                          <a:cs typeface="Times New Roman" panose="02020603050405020304" pitchFamily="18" charset="0"/>
                        </a:rPr>
                        <a:t>Methodology</a:t>
                      </a:r>
                      <a:endParaRPr lang="en-IN" sz="3500" dirty="0">
                        <a:solidFill>
                          <a:srgbClr val="FFC000"/>
                        </a:solidFill>
                        <a:latin typeface="Times New Roman" panose="02020603050405020304" pitchFamily="18" charset="0"/>
                        <a:cs typeface="Times New Roman" panose="02020603050405020304" pitchFamily="18" charset="0"/>
                      </a:endParaRPr>
                    </a:p>
                  </a:txBody>
                  <a:tcPr marL="89764" marR="89764" marT="44884" marB="44884"/>
                </a:tc>
                <a:tc>
                  <a:txBody>
                    <a:bodyPr/>
                    <a:lstStyle/>
                    <a:p>
                      <a:pPr algn="ctr"/>
                      <a:r>
                        <a:rPr lang="en-US" sz="3500" dirty="0">
                          <a:latin typeface="Times New Roman" panose="02020603050405020304" pitchFamily="18" charset="0"/>
                          <a:cs typeface="Times New Roman" panose="02020603050405020304" pitchFamily="18" charset="0"/>
                        </a:rPr>
                        <a:t>Drawbacks</a:t>
                      </a:r>
                      <a:endParaRPr lang="en-IN" sz="3500" dirty="0">
                        <a:solidFill>
                          <a:srgbClr val="FFC000"/>
                        </a:solidFill>
                        <a:latin typeface="Times New Roman" panose="02020603050405020304" pitchFamily="18" charset="0"/>
                        <a:cs typeface="Times New Roman" panose="02020603050405020304" pitchFamily="18" charset="0"/>
                      </a:endParaRPr>
                    </a:p>
                  </a:txBody>
                  <a:tcPr marL="89764" marR="89764" marT="44884" marB="44884"/>
                </a:tc>
                <a:tc>
                  <a:txBody>
                    <a:bodyPr/>
                    <a:lstStyle/>
                    <a:p>
                      <a:pPr algn="ctr"/>
                      <a:r>
                        <a:rPr lang="en-US" sz="3500" dirty="0">
                          <a:latin typeface="Times New Roman" panose="02020603050405020304" pitchFamily="18" charset="0"/>
                          <a:cs typeface="Times New Roman" panose="02020603050405020304" pitchFamily="18" charset="0"/>
                        </a:rPr>
                        <a:t>Result</a:t>
                      </a:r>
                      <a:endParaRPr lang="en-IN" sz="3500" dirty="0">
                        <a:solidFill>
                          <a:srgbClr val="FFC000"/>
                        </a:solidFill>
                        <a:latin typeface="Times New Roman" panose="02020603050405020304" pitchFamily="18" charset="0"/>
                        <a:cs typeface="Times New Roman" panose="02020603050405020304" pitchFamily="18" charset="0"/>
                      </a:endParaRPr>
                    </a:p>
                  </a:txBody>
                  <a:tcPr marL="89764" marR="89764" marT="44884" marB="44884"/>
                </a:tc>
                <a:tc>
                  <a:txBody>
                    <a:bodyPr/>
                    <a:lstStyle/>
                    <a:p>
                      <a:pPr algn="ctr"/>
                      <a:r>
                        <a:rPr lang="en-US" sz="3500" dirty="0">
                          <a:latin typeface="Times New Roman" panose="02020603050405020304" pitchFamily="18" charset="0"/>
                          <a:cs typeface="Times New Roman" panose="02020603050405020304" pitchFamily="18" charset="0"/>
                        </a:rPr>
                        <a:t>Link</a:t>
                      </a:r>
                      <a:endParaRPr lang="en-IN" sz="3500" dirty="0">
                        <a:solidFill>
                          <a:srgbClr val="FFC000"/>
                        </a:solidFill>
                        <a:latin typeface="Times New Roman" panose="02020603050405020304" pitchFamily="18" charset="0"/>
                        <a:cs typeface="Times New Roman" panose="02020603050405020304" pitchFamily="18" charset="0"/>
                      </a:endParaRPr>
                    </a:p>
                  </a:txBody>
                  <a:tcPr marL="89764" marR="89764" marT="44884" marB="44884"/>
                </a:tc>
                <a:extLst>
                  <a:ext uri="{0D108BD9-81ED-4DB2-BD59-A6C34878D82A}">
                    <a16:rowId xmlns:a16="http://schemas.microsoft.com/office/drawing/2014/main" val="1983519955"/>
                  </a:ext>
                </a:extLst>
              </a:tr>
              <a:tr h="6379827">
                <a:tc>
                  <a:txBody>
                    <a:bodyPr/>
                    <a:lstStyle/>
                    <a:p>
                      <a:pPr>
                        <a:lnSpc>
                          <a:spcPct val="150000"/>
                        </a:lnSpc>
                      </a:pPr>
                      <a:r>
                        <a:rPr lang="en-US" sz="2400" dirty="0">
                          <a:latin typeface="Times New Roman" panose="02020603050405020304" pitchFamily="18" charset="0"/>
                          <a:cs typeface="Times New Roman" panose="02020603050405020304" pitchFamily="18" charset="0"/>
                        </a:rPr>
                        <a:t>Application of Deep Learning in Software Defect Prediction: Systematic Literature Review and Meta-analysis</a:t>
                      </a:r>
                      <a:endParaRPr lang="en-IN" sz="2400" dirty="0">
                        <a:solidFill>
                          <a:schemeClr val="bg1"/>
                        </a:solidFill>
                        <a:latin typeface="Times New Roman" panose="02020603050405020304" pitchFamily="18" charset="0"/>
                        <a:cs typeface="Times New Roman" panose="02020603050405020304" pitchFamily="18" charset="0"/>
                      </a:endParaRPr>
                    </a:p>
                  </a:txBody>
                  <a:tcPr marL="89764" marR="89764" marT="44884" marB="44884"/>
                </a:tc>
                <a:tc>
                  <a:txBody>
                    <a:bodyPr/>
                    <a:lstStyle/>
                    <a:p>
                      <a:pPr>
                        <a:lnSpc>
                          <a:spcPct val="150000"/>
                        </a:lnSpc>
                      </a:pPr>
                      <a:r>
                        <a:rPr lang="en-US" sz="2400" dirty="0">
                          <a:latin typeface="Times New Roman" panose="02020603050405020304" pitchFamily="18" charset="0"/>
                          <a:cs typeface="Times New Roman" panose="02020603050405020304" pitchFamily="18" charset="0"/>
                        </a:rPr>
                        <a:t>Z. M. Zain, S. </a:t>
                      </a:r>
                      <a:r>
                        <a:rPr lang="en-US" sz="2400" dirty="0" err="1">
                          <a:latin typeface="Times New Roman" panose="02020603050405020304" pitchFamily="18" charset="0"/>
                          <a:cs typeface="Times New Roman" panose="02020603050405020304" pitchFamily="18" charset="0"/>
                        </a:rPr>
                        <a:t>Sakri</a:t>
                      </a:r>
                      <a:r>
                        <a:rPr lang="en-US" sz="2400" dirty="0">
                          <a:latin typeface="Times New Roman" panose="02020603050405020304" pitchFamily="18" charset="0"/>
                          <a:cs typeface="Times New Roman" panose="02020603050405020304" pitchFamily="18" charset="0"/>
                        </a:rPr>
                        <a:t>, and N. H. A. Ismail</a:t>
                      </a:r>
                      <a:endParaRPr lang="en-IN" sz="2400" dirty="0">
                        <a:solidFill>
                          <a:schemeClr val="bg1"/>
                        </a:solidFill>
                        <a:latin typeface="Times New Roman" panose="02020603050405020304" pitchFamily="18" charset="0"/>
                        <a:cs typeface="Times New Roman" panose="02020603050405020304" pitchFamily="18" charset="0"/>
                      </a:endParaRPr>
                    </a:p>
                  </a:txBody>
                  <a:tcPr marL="89764" marR="89764" marT="44884" marB="44884"/>
                </a:tc>
                <a:tc>
                  <a:txBody>
                    <a:bodyPr/>
                    <a:lstStyle/>
                    <a:p>
                      <a:pPr>
                        <a:lnSpc>
                          <a:spcPct val="150000"/>
                        </a:lnSpc>
                      </a:pPr>
                      <a:r>
                        <a:rPr lang="en-US" sz="2400" dirty="0">
                          <a:latin typeface="Times New Roman" panose="02020603050405020304" pitchFamily="18" charset="0"/>
                          <a:cs typeface="Times New Roman" panose="02020603050405020304" pitchFamily="18" charset="0"/>
                        </a:rPr>
                        <a:t>A systematic literature review and meta-analysis were conducted to synthesize empirical evidence on the use of deep learning (DL) in software defect prediction (SDP), comparing DL with traditional machine learning (ML) models.</a:t>
                      </a:r>
                      <a:endParaRPr lang="en-IN" sz="2400" dirty="0">
                        <a:solidFill>
                          <a:schemeClr val="bg1"/>
                        </a:solidFill>
                        <a:latin typeface="Times New Roman" panose="02020603050405020304" pitchFamily="18" charset="0"/>
                        <a:cs typeface="Times New Roman" panose="02020603050405020304" pitchFamily="18" charset="0"/>
                      </a:endParaRPr>
                    </a:p>
                  </a:txBody>
                  <a:tcPr marL="89764" marR="89764" marT="44884" marB="44884"/>
                </a:tc>
                <a:tc>
                  <a:txBody>
                    <a:bodyPr/>
                    <a:lstStyle/>
                    <a:p>
                      <a:pPr>
                        <a:lnSpc>
                          <a:spcPct val="150000"/>
                        </a:lnSpc>
                      </a:pPr>
                      <a:r>
                        <a:rPr lang="en-US" sz="2400" dirty="0">
                          <a:latin typeface="Times New Roman" panose="02020603050405020304" pitchFamily="18" charset="0"/>
                          <a:cs typeface="Times New Roman" panose="02020603050405020304" pitchFamily="18" charset="0"/>
                        </a:rPr>
                        <a:t>The review indicates that the application of DL in SDP remains under-researched and presents challenges, such as the need for optimizing performance-influencing parameters and the limited number of high-quality studies.</a:t>
                      </a:r>
                      <a:endParaRPr lang="en-IN" sz="2400" dirty="0">
                        <a:solidFill>
                          <a:schemeClr val="bg1"/>
                        </a:solidFill>
                        <a:latin typeface="Times New Roman" panose="02020603050405020304" pitchFamily="18" charset="0"/>
                        <a:cs typeface="Times New Roman" panose="02020603050405020304" pitchFamily="18" charset="0"/>
                      </a:endParaRPr>
                    </a:p>
                  </a:txBody>
                  <a:tcPr marL="89764" marR="89764" marT="44884" marB="44884"/>
                </a:tc>
                <a:tc>
                  <a:txBody>
                    <a:bodyPr/>
                    <a:lstStyle/>
                    <a:p>
                      <a:pPr>
                        <a:lnSpc>
                          <a:spcPct val="150000"/>
                        </a:lnSpc>
                      </a:pPr>
                      <a:r>
                        <a:rPr lang="en-US" sz="2400" dirty="0">
                          <a:latin typeface="Times New Roman" panose="02020603050405020304" pitchFamily="18" charset="0"/>
                          <a:cs typeface="Times New Roman" panose="02020603050405020304" pitchFamily="18" charset="0"/>
                        </a:rPr>
                        <a:t>The meta-analysis revealed that deep learning (DL) models outperformed traditional machine learning (ML) models in terms of accuracy, f-measure, and AUC in software defect prediction, showing DL's potential in this domain.</a:t>
                      </a:r>
                      <a:endParaRPr lang="en-IN" sz="2400" dirty="0">
                        <a:solidFill>
                          <a:schemeClr val="bg1"/>
                        </a:solidFill>
                        <a:latin typeface="Times New Roman" panose="02020603050405020304" pitchFamily="18" charset="0"/>
                        <a:cs typeface="Times New Roman" panose="02020603050405020304" pitchFamily="18" charset="0"/>
                      </a:endParaRPr>
                    </a:p>
                  </a:txBody>
                  <a:tcPr marL="89764" marR="89764" marT="44884" marB="44884"/>
                </a:tc>
                <a:tc>
                  <a:txBody>
                    <a:bodyPr/>
                    <a:lstStyle/>
                    <a:p>
                      <a:pPr>
                        <a:lnSpc>
                          <a:spcPct val="150000"/>
                        </a:lnSpc>
                      </a:pPr>
                      <a:r>
                        <a:rPr lang="en-IN" sz="2400" dirty="0">
                          <a:latin typeface="Times New Roman" panose="02020603050405020304" pitchFamily="18" charset="0"/>
                          <a:cs typeface="Times New Roman" panose="02020603050405020304" pitchFamily="18" charset="0"/>
                          <a:hlinkClick r:id="rId2"/>
                        </a:rPr>
                        <a:t>https://www.sciencedirect.com/science/article/abs/pii/S0950584923000290</a:t>
                      </a:r>
                      <a:r>
                        <a:rPr lang="en-IN" sz="2400" dirty="0">
                          <a:latin typeface="Times New Roman" panose="02020603050405020304" pitchFamily="18" charset="0"/>
                          <a:cs typeface="Times New Roman" panose="02020603050405020304" pitchFamily="18" charset="0"/>
                        </a:rPr>
                        <a:t> </a:t>
                      </a:r>
                      <a:endParaRPr lang="en-IN" sz="2400" dirty="0">
                        <a:solidFill>
                          <a:schemeClr val="bg1"/>
                        </a:solidFill>
                        <a:latin typeface="Times New Roman" panose="02020603050405020304" pitchFamily="18" charset="0"/>
                        <a:cs typeface="Times New Roman" panose="02020603050405020304" pitchFamily="18" charset="0"/>
                      </a:endParaRPr>
                    </a:p>
                  </a:txBody>
                  <a:tcPr marL="89764" marR="89764" marT="44884" marB="44884"/>
                </a:tc>
                <a:extLst>
                  <a:ext uri="{0D108BD9-81ED-4DB2-BD59-A6C34878D82A}">
                    <a16:rowId xmlns:a16="http://schemas.microsoft.com/office/drawing/2014/main" val="1790775321"/>
                  </a:ext>
                </a:extLst>
              </a:tr>
            </a:tbl>
          </a:graphicData>
        </a:graphic>
      </p:graphicFrame>
    </p:spTree>
    <p:extLst>
      <p:ext uri="{BB962C8B-B14F-4D97-AF65-F5344CB8AC3E}">
        <p14:creationId xmlns:p14="http://schemas.microsoft.com/office/powerpoint/2010/main" val="39204279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73080" y="301940"/>
            <a:ext cx="15289968" cy="1296576"/>
          </a:xfrm>
        </p:spPr>
        <p:txBody>
          <a:bodyPr/>
          <a:lstStyle/>
          <a:p>
            <a:pPr algn="ctr"/>
            <a:r>
              <a:rPr lang="en-US" sz="7066" dirty="0">
                <a:solidFill>
                  <a:srgbClr val="000000"/>
                </a:solidFill>
                <a:latin typeface="Times New Roman" pitchFamily="18" charset="0"/>
                <a:cs typeface="Times New Roman" pitchFamily="18" charset="0"/>
              </a:rPr>
              <a:t>LITERATURE SURVEY</a:t>
            </a:r>
            <a:endParaRPr lang="en-US" dirty="0">
              <a:solidFill>
                <a:schemeClr val="tx1"/>
              </a:solidFill>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905915603"/>
              </p:ext>
            </p:extLst>
          </p:nvPr>
        </p:nvGraphicFramePr>
        <p:xfrm>
          <a:off x="574601" y="2448024"/>
          <a:ext cx="16773925" cy="7454810"/>
        </p:xfrm>
        <a:graphic>
          <a:graphicData uri="http://schemas.openxmlformats.org/drawingml/2006/table">
            <a:tbl>
              <a:tblPr firstRow="1" bandRow="1">
                <a:tableStyleId>{69C7853C-536D-4A76-A0AE-DD22124D55A5}</a:tableStyleId>
              </a:tblPr>
              <a:tblGrid>
                <a:gridCol w="2365554">
                  <a:extLst>
                    <a:ext uri="{9D8B030D-6E8A-4147-A177-3AD203B41FA5}">
                      <a16:colId xmlns:a16="http://schemas.microsoft.com/office/drawing/2014/main" val="344574373"/>
                    </a:ext>
                  </a:extLst>
                </a:gridCol>
                <a:gridCol w="2078819">
                  <a:extLst>
                    <a:ext uri="{9D8B030D-6E8A-4147-A177-3AD203B41FA5}">
                      <a16:colId xmlns:a16="http://schemas.microsoft.com/office/drawing/2014/main" val="4082353162"/>
                    </a:ext>
                  </a:extLst>
                </a:gridCol>
                <a:gridCol w="3329531">
                  <a:extLst>
                    <a:ext uri="{9D8B030D-6E8A-4147-A177-3AD203B41FA5}">
                      <a16:colId xmlns:a16="http://schemas.microsoft.com/office/drawing/2014/main" val="3049379202"/>
                    </a:ext>
                  </a:extLst>
                </a:gridCol>
                <a:gridCol w="3570848">
                  <a:extLst>
                    <a:ext uri="{9D8B030D-6E8A-4147-A177-3AD203B41FA5}">
                      <a16:colId xmlns:a16="http://schemas.microsoft.com/office/drawing/2014/main" val="3466224569"/>
                    </a:ext>
                  </a:extLst>
                </a:gridCol>
                <a:gridCol w="3363564">
                  <a:extLst>
                    <a:ext uri="{9D8B030D-6E8A-4147-A177-3AD203B41FA5}">
                      <a16:colId xmlns:a16="http://schemas.microsoft.com/office/drawing/2014/main" val="4020165895"/>
                    </a:ext>
                  </a:extLst>
                </a:gridCol>
                <a:gridCol w="2065609">
                  <a:extLst>
                    <a:ext uri="{9D8B030D-6E8A-4147-A177-3AD203B41FA5}">
                      <a16:colId xmlns:a16="http://schemas.microsoft.com/office/drawing/2014/main" val="4145134274"/>
                    </a:ext>
                  </a:extLst>
                </a:gridCol>
              </a:tblGrid>
              <a:tr h="847084">
                <a:tc>
                  <a:txBody>
                    <a:bodyPr/>
                    <a:lstStyle/>
                    <a:p>
                      <a:pPr algn="ctr"/>
                      <a:r>
                        <a:rPr lang="en-US" sz="3500" dirty="0">
                          <a:latin typeface="Times New Roman" panose="02020603050405020304" pitchFamily="18" charset="0"/>
                          <a:cs typeface="Times New Roman" panose="02020603050405020304" pitchFamily="18" charset="0"/>
                        </a:rPr>
                        <a:t>Title</a:t>
                      </a:r>
                      <a:endParaRPr lang="en-IN" sz="3500" dirty="0">
                        <a:solidFill>
                          <a:srgbClr val="FFC000"/>
                        </a:solidFill>
                        <a:latin typeface="Times New Roman" panose="02020603050405020304" pitchFamily="18" charset="0"/>
                        <a:cs typeface="Times New Roman" panose="02020603050405020304" pitchFamily="18" charset="0"/>
                      </a:endParaRPr>
                    </a:p>
                  </a:txBody>
                  <a:tcPr marL="89764" marR="89764" marT="44884" marB="44884"/>
                </a:tc>
                <a:tc>
                  <a:txBody>
                    <a:bodyPr/>
                    <a:lstStyle/>
                    <a:p>
                      <a:pPr algn="ctr"/>
                      <a:r>
                        <a:rPr lang="en-US" sz="3500" dirty="0">
                          <a:latin typeface="Times New Roman" panose="02020603050405020304" pitchFamily="18" charset="0"/>
                          <a:cs typeface="Times New Roman" panose="02020603050405020304" pitchFamily="18" charset="0"/>
                        </a:rPr>
                        <a:t>Author</a:t>
                      </a:r>
                      <a:endParaRPr lang="en-IN" sz="3500" dirty="0">
                        <a:solidFill>
                          <a:srgbClr val="FFC000"/>
                        </a:solidFill>
                        <a:latin typeface="Times New Roman" panose="02020603050405020304" pitchFamily="18" charset="0"/>
                        <a:cs typeface="Times New Roman" panose="02020603050405020304" pitchFamily="18" charset="0"/>
                      </a:endParaRPr>
                    </a:p>
                  </a:txBody>
                  <a:tcPr marL="89764" marR="89764" marT="44884" marB="44884"/>
                </a:tc>
                <a:tc>
                  <a:txBody>
                    <a:bodyPr/>
                    <a:lstStyle/>
                    <a:p>
                      <a:pPr algn="ctr"/>
                      <a:r>
                        <a:rPr lang="en-US" sz="3500" dirty="0">
                          <a:latin typeface="Times New Roman" panose="02020603050405020304" pitchFamily="18" charset="0"/>
                          <a:cs typeface="Times New Roman" panose="02020603050405020304" pitchFamily="18" charset="0"/>
                        </a:rPr>
                        <a:t>Methodology</a:t>
                      </a:r>
                      <a:endParaRPr lang="en-IN" sz="3500" dirty="0">
                        <a:solidFill>
                          <a:srgbClr val="FFC000"/>
                        </a:solidFill>
                        <a:latin typeface="Times New Roman" panose="02020603050405020304" pitchFamily="18" charset="0"/>
                        <a:cs typeface="Times New Roman" panose="02020603050405020304" pitchFamily="18" charset="0"/>
                      </a:endParaRPr>
                    </a:p>
                  </a:txBody>
                  <a:tcPr marL="89764" marR="89764" marT="44884" marB="44884"/>
                </a:tc>
                <a:tc>
                  <a:txBody>
                    <a:bodyPr/>
                    <a:lstStyle/>
                    <a:p>
                      <a:pPr algn="ctr"/>
                      <a:r>
                        <a:rPr lang="en-US" sz="3500" dirty="0">
                          <a:latin typeface="Times New Roman" panose="02020603050405020304" pitchFamily="18" charset="0"/>
                          <a:cs typeface="Times New Roman" panose="02020603050405020304" pitchFamily="18" charset="0"/>
                        </a:rPr>
                        <a:t>Drawbacks</a:t>
                      </a:r>
                      <a:endParaRPr lang="en-IN" sz="3500" dirty="0">
                        <a:solidFill>
                          <a:srgbClr val="FFC000"/>
                        </a:solidFill>
                        <a:latin typeface="Times New Roman" panose="02020603050405020304" pitchFamily="18" charset="0"/>
                        <a:cs typeface="Times New Roman" panose="02020603050405020304" pitchFamily="18" charset="0"/>
                      </a:endParaRPr>
                    </a:p>
                  </a:txBody>
                  <a:tcPr marL="89764" marR="89764" marT="44884" marB="44884"/>
                </a:tc>
                <a:tc>
                  <a:txBody>
                    <a:bodyPr/>
                    <a:lstStyle/>
                    <a:p>
                      <a:pPr algn="ctr"/>
                      <a:r>
                        <a:rPr lang="en-US" sz="3500" dirty="0">
                          <a:latin typeface="Times New Roman" panose="02020603050405020304" pitchFamily="18" charset="0"/>
                          <a:cs typeface="Times New Roman" panose="02020603050405020304" pitchFamily="18" charset="0"/>
                        </a:rPr>
                        <a:t>Result</a:t>
                      </a:r>
                      <a:endParaRPr lang="en-IN" sz="3500" dirty="0">
                        <a:solidFill>
                          <a:srgbClr val="FFC000"/>
                        </a:solidFill>
                        <a:latin typeface="Times New Roman" panose="02020603050405020304" pitchFamily="18" charset="0"/>
                        <a:cs typeface="Times New Roman" panose="02020603050405020304" pitchFamily="18" charset="0"/>
                      </a:endParaRPr>
                    </a:p>
                  </a:txBody>
                  <a:tcPr marL="89764" marR="89764" marT="44884" marB="44884"/>
                </a:tc>
                <a:tc>
                  <a:txBody>
                    <a:bodyPr/>
                    <a:lstStyle/>
                    <a:p>
                      <a:pPr algn="ctr"/>
                      <a:r>
                        <a:rPr lang="en-US" sz="3500" dirty="0">
                          <a:latin typeface="Times New Roman" panose="02020603050405020304" pitchFamily="18" charset="0"/>
                          <a:cs typeface="Times New Roman" panose="02020603050405020304" pitchFamily="18" charset="0"/>
                        </a:rPr>
                        <a:t>Link</a:t>
                      </a:r>
                      <a:endParaRPr lang="en-IN" sz="3500" dirty="0">
                        <a:solidFill>
                          <a:srgbClr val="FFC000"/>
                        </a:solidFill>
                        <a:latin typeface="Times New Roman" panose="02020603050405020304" pitchFamily="18" charset="0"/>
                        <a:cs typeface="Times New Roman" panose="02020603050405020304" pitchFamily="18" charset="0"/>
                      </a:endParaRPr>
                    </a:p>
                  </a:txBody>
                  <a:tcPr marL="89764" marR="89764" marT="44884" marB="44884"/>
                </a:tc>
                <a:extLst>
                  <a:ext uri="{0D108BD9-81ED-4DB2-BD59-A6C34878D82A}">
                    <a16:rowId xmlns:a16="http://schemas.microsoft.com/office/drawing/2014/main" val="1983519955"/>
                  </a:ext>
                </a:extLst>
              </a:tr>
              <a:tr h="6379827">
                <a:tc>
                  <a:txBody>
                    <a:bodyPr/>
                    <a:lstStyle/>
                    <a:p>
                      <a:pPr>
                        <a:lnSpc>
                          <a:spcPct val="150000"/>
                        </a:lnSpc>
                      </a:pPr>
                      <a:r>
                        <a:rPr lang="en-US" sz="2400" dirty="0">
                          <a:latin typeface="Times New Roman" panose="02020603050405020304" pitchFamily="18" charset="0"/>
                          <a:cs typeface="Times New Roman" panose="02020603050405020304" pitchFamily="18" charset="0"/>
                        </a:rPr>
                        <a:t>A Cloud-Based Software Defect Prediction System Using Data and Decision-Level Machine Learning Fusion</a:t>
                      </a:r>
                      <a:endParaRPr lang="en-IN" sz="2400" dirty="0">
                        <a:solidFill>
                          <a:schemeClr val="bg1"/>
                        </a:solidFill>
                        <a:latin typeface="Times New Roman" panose="02020603050405020304" pitchFamily="18" charset="0"/>
                        <a:cs typeface="Times New Roman" panose="02020603050405020304" pitchFamily="18" charset="0"/>
                      </a:endParaRPr>
                    </a:p>
                  </a:txBody>
                  <a:tcPr marL="89764" marR="89764" marT="44884" marB="44884"/>
                </a:tc>
                <a:tc>
                  <a:txBody>
                    <a:bodyPr/>
                    <a:lstStyle/>
                    <a:p>
                      <a:pPr>
                        <a:lnSpc>
                          <a:spcPct val="150000"/>
                        </a:lnSpc>
                      </a:pPr>
                      <a:r>
                        <a:rPr lang="en-US" sz="2400" dirty="0">
                          <a:latin typeface="Times New Roman" panose="02020603050405020304" pitchFamily="18" charset="0"/>
                          <a:cs typeface="Times New Roman" panose="02020603050405020304" pitchFamily="18" charset="0"/>
                        </a:rPr>
                        <a:t>S. </a:t>
                      </a:r>
                      <a:r>
                        <a:rPr lang="en-US" sz="2400" dirty="0" err="1">
                          <a:latin typeface="Times New Roman" panose="02020603050405020304" pitchFamily="18" charset="0"/>
                          <a:cs typeface="Times New Roman" panose="02020603050405020304" pitchFamily="18" charset="0"/>
                        </a:rPr>
                        <a:t>Aftab</a:t>
                      </a:r>
                      <a:r>
                        <a:rPr lang="en-US" sz="2400" dirty="0">
                          <a:latin typeface="Times New Roman" panose="02020603050405020304" pitchFamily="18" charset="0"/>
                          <a:cs typeface="Times New Roman" panose="02020603050405020304" pitchFamily="18" charset="0"/>
                        </a:rPr>
                        <a:t>, S. Abbas, T. M. Ghazal, M. Ahmad, H. A. </a:t>
                      </a:r>
                      <a:r>
                        <a:rPr lang="en-US" sz="2400" dirty="0" err="1">
                          <a:latin typeface="Times New Roman" panose="02020603050405020304" pitchFamily="18" charset="0"/>
                          <a:cs typeface="Times New Roman" panose="02020603050405020304" pitchFamily="18" charset="0"/>
                        </a:rPr>
                        <a:t>Hamadi</a:t>
                      </a:r>
                      <a:r>
                        <a:rPr lang="en-US" sz="2400" dirty="0">
                          <a:latin typeface="Times New Roman" panose="02020603050405020304" pitchFamily="18" charset="0"/>
                          <a:cs typeface="Times New Roman" panose="02020603050405020304" pitchFamily="18" charset="0"/>
                        </a:rPr>
                        <a:t>, C. Y. </a:t>
                      </a:r>
                      <a:r>
                        <a:rPr lang="en-US" sz="2400" dirty="0" err="1">
                          <a:latin typeface="Times New Roman" panose="02020603050405020304" pitchFamily="18" charset="0"/>
                          <a:cs typeface="Times New Roman" panose="02020603050405020304" pitchFamily="18" charset="0"/>
                        </a:rPr>
                        <a:t>Yeun</a:t>
                      </a:r>
                      <a:r>
                        <a:rPr lang="en-US" sz="2400" dirty="0">
                          <a:latin typeface="Times New Roman" panose="02020603050405020304" pitchFamily="18" charset="0"/>
                          <a:cs typeface="Times New Roman" panose="02020603050405020304" pitchFamily="18" charset="0"/>
                        </a:rPr>
                        <a:t>, and M. A. Khan</a:t>
                      </a:r>
                      <a:endParaRPr lang="en-IN" sz="2400" dirty="0">
                        <a:solidFill>
                          <a:schemeClr val="bg1"/>
                        </a:solidFill>
                        <a:latin typeface="Times New Roman" panose="02020603050405020304" pitchFamily="18" charset="0"/>
                        <a:cs typeface="Times New Roman" panose="02020603050405020304" pitchFamily="18" charset="0"/>
                      </a:endParaRPr>
                    </a:p>
                  </a:txBody>
                  <a:tcPr marL="89764" marR="89764" marT="44884" marB="44884"/>
                </a:tc>
                <a:tc>
                  <a:txBody>
                    <a:bodyPr/>
                    <a:lstStyle/>
                    <a:p>
                      <a:pPr>
                        <a:lnSpc>
                          <a:spcPct val="150000"/>
                        </a:lnSpc>
                      </a:pPr>
                      <a:r>
                        <a:rPr lang="en-US" sz="2400" dirty="0">
                          <a:latin typeface="Times New Roman" panose="02020603050405020304" pitchFamily="18" charset="0"/>
                          <a:cs typeface="Times New Roman" panose="02020603050405020304" pitchFamily="18" charset="0"/>
                        </a:rPr>
                        <a:t>This research presents a cloud-based software defect prediction system using a two-step machine learning fusion approach. The first step uses classifiers (Naïve Bayes, ANN, Decision Tree), followed by a fuzzy logic-based system for final prediction.</a:t>
                      </a:r>
                      <a:endParaRPr lang="en-IN" sz="2400" dirty="0">
                        <a:solidFill>
                          <a:schemeClr val="bg1"/>
                        </a:solidFill>
                        <a:latin typeface="Times New Roman" panose="02020603050405020304" pitchFamily="18" charset="0"/>
                        <a:cs typeface="Times New Roman" panose="02020603050405020304" pitchFamily="18" charset="0"/>
                      </a:endParaRPr>
                    </a:p>
                  </a:txBody>
                  <a:tcPr marL="89764" marR="89764" marT="44884" marB="44884"/>
                </a:tc>
                <a:tc>
                  <a:txBody>
                    <a:bodyPr/>
                    <a:lstStyle/>
                    <a:p>
                      <a:pPr>
                        <a:lnSpc>
                          <a:spcPct val="150000"/>
                        </a:lnSpc>
                      </a:pPr>
                      <a:r>
                        <a:rPr lang="en-US" sz="2400" dirty="0">
                          <a:latin typeface="Times New Roman" panose="02020603050405020304" pitchFamily="18" charset="0"/>
                          <a:cs typeface="Times New Roman" panose="02020603050405020304" pitchFamily="18" charset="0"/>
                        </a:rPr>
                        <a:t>The study focuses on using five datasets from the NASA repository but may not address potential biases or limitations of these datasets, and its generalizability to other types of software may be restricted.</a:t>
                      </a:r>
                      <a:endParaRPr lang="en-IN" sz="2400" dirty="0">
                        <a:solidFill>
                          <a:schemeClr val="bg1"/>
                        </a:solidFill>
                        <a:latin typeface="Times New Roman" panose="02020603050405020304" pitchFamily="18" charset="0"/>
                        <a:cs typeface="Times New Roman" panose="02020603050405020304" pitchFamily="18" charset="0"/>
                      </a:endParaRPr>
                    </a:p>
                  </a:txBody>
                  <a:tcPr marL="89764" marR="89764" marT="44884" marB="44884"/>
                </a:tc>
                <a:tc>
                  <a:txBody>
                    <a:bodyPr/>
                    <a:lstStyle/>
                    <a:p>
                      <a:pPr>
                        <a:lnSpc>
                          <a:spcPct val="150000"/>
                        </a:lnSpc>
                      </a:pPr>
                      <a:r>
                        <a:rPr lang="en-US" sz="2400" dirty="0">
                          <a:latin typeface="Times New Roman" panose="02020603050405020304" pitchFamily="18" charset="0"/>
                          <a:cs typeface="Times New Roman" panose="02020603050405020304" pitchFamily="18" charset="0"/>
                        </a:rPr>
                        <a:t>The proposed fusion-based defect prediction system achieved 91.05% accuracy, outperforming individual classifiers and other state-of-the-art ensemble techniques, indicating the effectiveness of combining data-level and decision-level fusion with fuzzy logic.</a:t>
                      </a:r>
                      <a:endParaRPr lang="en-IN" sz="2400" dirty="0">
                        <a:solidFill>
                          <a:schemeClr val="bg1"/>
                        </a:solidFill>
                        <a:latin typeface="Times New Roman" panose="02020603050405020304" pitchFamily="18" charset="0"/>
                        <a:cs typeface="Times New Roman" panose="02020603050405020304" pitchFamily="18" charset="0"/>
                      </a:endParaRPr>
                    </a:p>
                  </a:txBody>
                  <a:tcPr marL="89764" marR="89764" marT="44884" marB="44884"/>
                </a:tc>
                <a:tc>
                  <a:txBody>
                    <a:bodyPr/>
                    <a:lstStyle/>
                    <a:p>
                      <a:pPr>
                        <a:lnSpc>
                          <a:spcPct val="150000"/>
                        </a:lnSpc>
                      </a:pPr>
                      <a:r>
                        <a:rPr lang="en-IN" sz="2400" dirty="0">
                          <a:latin typeface="Times New Roman" panose="02020603050405020304" pitchFamily="18" charset="0"/>
                          <a:cs typeface="Times New Roman" panose="02020603050405020304" pitchFamily="18" charset="0"/>
                          <a:hlinkClick r:id="rId2"/>
                        </a:rPr>
                        <a:t>https://nchr.elsevierpure.com/en/publications/a-cloud-based-software-defect-prediction-system-using-data-and-de</a:t>
                      </a:r>
                      <a:r>
                        <a:rPr lang="en-IN" sz="2400" dirty="0">
                          <a:latin typeface="Times New Roman" panose="02020603050405020304" pitchFamily="18" charset="0"/>
                          <a:cs typeface="Times New Roman" panose="02020603050405020304" pitchFamily="18" charset="0"/>
                        </a:rPr>
                        <a:t> </a:t>
                      </a:r>
                      <a:endParaRPr lang="en-IN" sz="2400" dirty="0">
                        <a:solidFill>
                          <a:schemeClr val="bg1"/>
                        </a:solidFill>
                        <a:latin typeface="Times New Roman" panose="02020603050405020304" pitchFamily="18" charset="0"/>
                        <a:cs typeface="Times New Roman" panose="02020603050405020304" pitchFamily="18" charset="0"/>
                      </a:endParaRPr>
                    </a:p>
                  </a:txBody>
                  <a:tcPr marL="89764" marR="89764" marT="44884" marB="44884"/>
                </a:tc>
                <a:extLst>
                  <a:ext uri="{0D108BD9-81ED-4DB2-BD59-A6C34878D82A}">
                    <a16:rowId xmlns:a16="http://schemas.microsoft.com/office/drawing/2014/main" val="1790775321"/>
                  </a:ext>
                </a:extLst>
              </a:tr>
            </a:tbl>
          </a:graphicData>
        </a:graphic>
      </p:graphicFrame>
    </p:spTree>
    <p:extLst>
      <p:ext uri="{BB962C8B-B14F-4D97-AF65-F5344CB8AC3E}">
        <p14:creationId xmlns:p14="http://schemas.microsoft.com/office/powerpoint/2010/main" val="12025174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73080" y="301940"/>
            <a:ext cx="15289968" cy="1296576"/>
          </a:xfrm>
        </p:spPr>
        <p:txBody>
          <a:bodyPr/>
          <a:lstStyle/>
          <a:p>
            <a:pPr algn="ctr"/>
            <a:r>
              <a:rPr lang="en-US" sz="7066" dirty="0">
                <a:solidFill>
                  <a:srgbClr val="000000"/>
                </a:solidFill>
                <a:latin typeface="Times New Roman" pitchFamily="18" charset="0"/>
                <a:cs typeface="Times New Roman" pitchFamily="18" charset="0"/>
              </a:rPr>
              <a:t>LITERATURE SURVEY</a:t>
            </a:r>
            <a:endParaRPr lang="en-US" dirty="0">
              <a:solidFill>
                <a:schemeClr val="tx1"/>
              </a:solidFill>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459710918"/>
              </p:ext>
            </p:extLst>
          </p:nvPr>
        </p:nvGraphicFramePr>
        <p:xfrm>
          <a:off x="574601" y="2448024"/>
          <a:ext cx="16773925" cy="7226911"/>
        </p:xfrm>
        <a:graphic>
          <a:graphicData uri="http://schemas.openxmlformats.org/drawingml/2006/table">
            <a:tbl>
              <a:tblPr firstRow="1" bandRow="1">
                <a:tableStyleId>{69C7853C-536D-4A76-A0AE-DD22124D55A5}</a:tableStyleId>
              </a:tblPr>
              <a:tblGrid>
                <a:gridCol w="2365554">
                  <a:extLst>
                    <a:ext uri="{9D8B030D-6E8A-4147-A177-3AD203B41FA5}">
                      <a16:colId xmlns:a16="http://schemas.microsoft.com/office/drawing/2014/main" val="344574373"/>
                    </a:ext>
                  </a:extLst>
                </a:gridCol>
                <a:gridCol w="2078819">
                  <a:extLst>
                    <a:ext uri="{9D8B030D-6E8A-4147-A177-3AD203B41FA5}">
                      <a16:colId xmlns:a16="http://schemas.microsoft.com/office/drawing/2014/main" val="4082353162"/>
                    </a:ext>
                  </a:extLst>
                </a:gridCol>
                <a:gridCol w="3329531">
                  <a:extLst>
                    <a:ext uri="{9D8B030D-6E8A-4147-A177-3AD203B41FA5}">
                      <a16:colId xmlns:a16="http://schemas.microsoft.com/office/drawing/2014/main" val="3049379202"/>
                    </a:ext>
                  </a:extLst>
                </a:gridCol>
                <a:gridCol w="3570848">
                  <a:extLst>
                    <a:ext uri="{9D8B030D-6E8A-4147-A177-3AD203B41FA5}">
                      <a16:colId xmlns:a16="http://schemas.microsoft.com/office/drawing/2014/main" val="3466224569"/>
                    </a:ext>
                  </a:extLst>
                </a:gridCol>
                <a:gridCol w="3363564">
                  <a:extLst>
                    <a:ext uri="{9D8B030D-6E8A-4147-A177-3AD203B41FA5}">
                      <a16:colId xmlns:a16="http://schemas.microsoft.com/office/drawing/2014/main" val="4020165895"/>
                    </a:ext>
                  </a:extLst>
                </a:gridCol>
                <a:gridCol w="2065609">
                  <a:extLst>
                    <a:ext uri="{9D8B030D-6E8A-4147-A177-3AD203B41FA5}">
                      <a16:colId xmlns:a16="http://schemas.microsoft.com/office/drawing/2014/main" val="4145134274"/>
                    </a:ext>
                  </a:extLst>
                </a:gridCol>
              </a:tblGrid>
              <a:tr h="847084">
                <a:tc>
                  <a:txBody>
                    <a:bodyPr/>
                    <a:lstStyle/>
                    <a:p>
                      <a:pPr algn="ctr"/>
                      <a:r>
                        <a:rPr lang="en-US" sz="3500" dirty="0">
                          <a:latin typeface="Times New Roman" panose="02020603050405020304" pitchFamily="18" charset="0"/>
                          <a:cs typeface="Times New Roman" panose="02020603050405020304" pitchFamily="18" charset="0"/>
                        </a:rPr>
                        <a:t>Title</a:t>
                      </a:r>
                      <a:endParaRPr lang="en-IN" sz="3500" dirty="0">
                        <a:solidFill>
                          <a:srgbClr val="FFC000"/>
                        </a:solidFill>
                        <a:latin typeface="Times New Roman" panose="02020603050405020304" pitchFamily="18" charset="0"/>
                        <a:cs typeface="Times New Roman" panose="02020603050405020304" pitchFamily="18" charset="0"/>
                      </a:endParaRPr>
                    </a:p>
                  </a:txBody>
                  <a:tcPr marL="89764" marR="89764" marT="44884" marB="44884"/>
                </a:tc>
                <a:tc>
                  <a:txBody>
                    <a:bodyPr/>
                    <a:lstStyle/>
                    <a:p>
                      <a:pPr algn="ctr"/>
                      <a:r>
                        <a:rPr lang="en-US" sz="3500" dirty="0">
                          <a:latin typeface="Times New Roman" panose="02020603050405020304" pitchFamily="18" charset="0"/>
                          <a:cs typeface="Times New Roman" panose="02020603050405020304" pitchFamily="18" charset="0"/>
                        </a:rPr>
                        <a:t>Author</a:t>
                      </a:r>
                      <a:endParaRPr lang="en-IN" sz="3500" dirty="0">
                        <a:solidFill>
                          <a:srgbClr val="FFC000"/>
                        </a:solidFill>
                        <a:latin typeface="Times New Roman" panose="02020603050405020304" pitchFamily="18" charset="0"/>
                        <a:cs typeface="Times New Roman" panose="02020603050405020304" pitchFamily="18" charset="0"/>
                      </a:endParaRPr>
                    </a:p>
                  </a:txBody>
                  <a:tcPr marL="89764" marR="89764" marT="44884" marB="44884"/>
                </a:tc>
                <a:tc>
                  <a:txBody>
                    <a:bodyPr/>
                    <a:lstStyle/>
                    <a:p>
                      <a:pPr algn="ctr"/>
                      <a:r>
                        <a:rPr lang="en-US" sz="3500" dirty="0">
                          <a:latin typeface="Times New Roman" panose="02020603050405020304" pitchFamily="18" charset="0"/>
                          <a:cs typeface="Times New Roman" panose="02020603050405020304" pitchFamily="18" charset="0"/>
                        </a:rPr>
                        <a:t>Methodology</a:t>
                      </a:r>
                      <a:endParaRPr lang="en-IN" sz="3500" dirty="0">
                        <a:solidFill>
                          <a:srgbClr val="FFC000"/>
                        </a:solidFill>
                        <a:latin typeface="Times New Roman" panose="02020603050405020304" pitchFamily="18" charset="0"/>
                        <a:cs typeface="Times New Roman" panose="02020603050405020304" pitchFamily="18" charset="0"/>
                      </a:endParaRPr>
                    </a:p>
                  </a:txBody>
                  <a:tcPr marL="89764" marR="89764" marT="44884" marB="44884"/>
                </a:tc>
                <a:tc>
                  <a:txBody>
                    <a:bodyPr/>
                    <a:lstStyle/>
                    <a:p>
                      <a:pPr algn="ctr"/>
                      <a:r>
                        <a:rPr lang="en-US" sz="3500" dirty="0">
                          <a:latin typeface="Times New Roman" panose="02020603050405020304" pitchFamily="18" charset="0"/>
                          <a:cs typeface="Times New Roman" panose="02020603050405020304" pitchFamily="18" charset="0"/>
                        </a:rPr>
                        <a:t>Drawbacks</a:t>
                      </a:r>
                      <a:endParaRPr lang="en-IN" sz="3500" dirty="0">
                        <a:solidFill>
                          <a:srgbClr val="FFC000"/>
                        </a:solidFill>
                        <a:latin typeface="Times New Roman" panose="02020603050405020304" pitchFamily="18" charset="0"/>
                        <a:cs typeface="Times New Roman" panose="02020603050405020304" pitchFamily="18" charset="0"/>
                      </a:endParaRPr>
                    </a:p>
                  </a:txBody>
                  <a:tcPr marL="89764" marR="89764" marT="44884" marB="44884"/>
                </a:tc>
                <a:tc>
                  <a:txBody>
                    <a:bodyPr/>
                    <a:lstStyle/>
                    <a:p>
                      <a:pPr algn="ctr"/>
                      <a:r>
                        <a:rPr lang="en-US" sz="3500" dirty="0">
                          <a:latin typeface="Times New Roman" panose="02020603050405020304" pitchFamily="18" charset="0"/>
                          <a:cs typeface="Times New Roman" panose="02020603050405020304" pitchFamily="18" charset="0"/>
                        </a:rPr>
                        <a:t>Result</a:t>
                      </a:r>
                      <a:endParaRPr lang="en-IN" sz="3500" dirty="0">
                        <a:solidFill>
                          <a:srgbClr val="FFC000"/>
                        </a:solidFill>
                        <a:latin typeface="Times New Roman" panose="02020603050405020304" pitchFamily="18" charset="0"/>
                        <a:cs typeface="Times New Roman" panose="02020603050405020304" pitchFamily="18" charset="0"/>
                      </a:endParaRPr>
                    </a:p>
                  </a:txBody>
                  <a:tcPr marL="89764" marR="89764" marT="44884" marB="44884"/>
                </a:tc>
                <a:tc>
                  <a:txBody>
                    <a:bodyPr/>
                    <a:lstStyle/>
                    <a:p>
                      <a:pPr algn="ctr"/>
                      <a:r>
                        <a:rPr lang="en-US" sz="3500" dirty="0">
                          <a:latin typeface="Times New Roman" panose="02020603050405020304" pitchFamily="18" charset="0"/>
                          <a:cs typeface="Times New Roman" panose="02020603050405020304" pitchFamily="18" charset="0"/>
                        </a:rPr>
                        <a:t>Link</a:t>
                      </a:r>
                      <a:endParaRPr lang="en-IN" sz="3500" dirty="0">
                        <a:solidFill>
                          <a:srgbClr val="FFC000"/>
                        </a:solidFill>
                        <a:latin typeface="Times New Roman" panose="02020603050405020304" pitchFamily="18" charset="0"/>
                        <a:cs typeface="Times New Roman" panose="02020603050405020304" pitchFamily="18" charset="0"/>
                      </a:endParaRPr>
                    </a:p>
                  </a:txBody>
                  <a:tcPr marL="89764" marR="89764" marT="44884" marB="44884"/>
                </a:tc>
                <a:extLst>
                  <a:ext uri="{0D108BD9-81ED-4DB2-BD59-A6C34878D82A}">
                    <a16:rowId xmlns:a16="http://schemas.microsoft.com/office/drawing/2014/main" val="1983519955"/>
                  </a:ext>
                </a:extLst>
              </a:tr>
              <a:tr h="6379827">
                <a:tc>
                  <a:txBody>
                    <a:bodyPr/>
                    <a:lstStyle/>
                    <a:p>
                      <a:pPr>
                        <a:lnSpc>
                          <a:spcPct val="150000"/>
                        </a:lnSpc>
                      </a:pPr>
                      <a:r>
                        <a:rPr lang="en-US" sz="2400" dirty="0">
                          <a:latin typeface="Times New Roman" panose="02020603050405020304" pitchFamily="18" charset="0"/>
                          <a:cs typeface="Times New Roman" panose="02020603050405020304" pitchFamily="18" charset="0"/>
                        </a:rPr>
                        <a:t>Software defect prediction ensemble learning algorithm based on adaptive variable sparrow search algorithm</a:t>
                      </a:r>
                      <a:endParaRPr lang="en-IN" sz="2400" dirty="0">
                        <a:solidFill>
                          <a:schemeClr val="bg1"/>
                        </a:solidFill>
                        <a:latin typeface="Times New Roman" panose="02020603050405020304" pitchFamily="18" charset="0"/>
                        <a:cs typeface="Times New Roman" panose="02020603050405020304" pitchFamily="18" charset="0"/>
                      </a:endParaRPr>
                    </a:p>
                  </a:txBody>
                  <a:tcPr marL="89764" marR="89764" marT="44884" marB="44884"/>
                </a:tc>
                <a:tc>
                  <a:txBody>
                    <a:bodyPr/>
                    <a:lstStyle/>
                    <a:p>
                      <a:pPr>
                        <a:lnSpc>
                          <a:spcPct val="150000"/>
                        </a:lnSpc>
                      </a:pPr>
                      <a:r>
                        <a:rPr lang="en-US" sz="2400" dirty="0">
                          <a:latin typeface="Times New Roman" panose="02020603050405020304" pitchFamily="18" charset="0"/>
                          <a:cs typeface="Times New Roman" panose="02020603050405020304" pitchFamily="18" charset="0"/>
                        </a:rPr>
                        <a:t>Y. Tang, Q. Dai, M. Yang, T. Du, and L. Chen</a:t>
                      </a:r>
                      <a:endParaRPr lang="en-IN" sz="2400" dirty="0">
                        <a:solidFill>
                          <a:schemeClr val="bg1"/>
                        </a:solidFill>
                        <a:latin typeface="Times New Roman" panose="02020603050405020304" pitchFamily="18" charset="0"/>
                        <a:cs typeface="Times New Roman" panose="02020603050405020304" pitchFamily="18" charset="0"/>
                      </a:endParaRPr>
                    </a:p>
                  </a:txBody>
                  <a:tcPr marL="89764" marR="89764" marT="44884" marB="44884"/>
                </a:tc>
                <a:tc>
                  <a:txBody>
                    <a:bodyPr/>
                    <a:lstStyle/>
                    <a:p>
                      <a:pPr>
                        <a:lnSpc>
                          <a:spcPct val="150000"/>
                        </a:lnSpc>
                      </a:pPr>
                      <a:r>
                        <a:rPr lang="en-US" sz="2400" dirty="0">
                          <a:latin typeface="Times New Roman" panose="02020603050405020304" pitchFamily="18" charset="0"/>
                          <a:cs typeface="Times New Roman" panose="02020603050405020304" pitchFamily="18" charset="0"/>
                        </a:rPr>
                        <a:t>This paper proposes an adaptive variable sparrow search algorithm (AVSSA) to optimize the extreme learning machine (ELM) in a Bagging ensemble learning model (AVSEB) for software defect prediction.</a:t>
                      </a:r>
                      <a:endParaRPr lang="en-IN" sz="2400" dirty="0">
                        <a:solidFill>
                          <a:schemeClr val="bg1"/>
                        </a:solidFill>
                        <a:latin typeface="Times New Roman" panose="02020603050405020304" pitchFamily="18" charset="0"/>
                        <a:cs typeface="Times New Roman" panose="02020603050405020304" pitchFamily="18" charset="0"/>
                      </a:endParaRPr>
                    </a:p>
                  </a:txBody>
                  <a:tcPr marL="89764" marR="89764" marT="44884" marB="44884"/>
                </a:tc>
                <a:tc>
                  <a:txBody>
                    <a:bodyPr/>
                    <a:lstStyle/>
                    <a:p>
                      <a:pPr>
                        <a:lnSpc>
                          <a:spcPct val="150000"/>
                        </a:lnSpc>
                      </a:pPr>
                      <a:r>
                        <a:rPr lang="en-US" sz="2400" dirty="0">
                          <a:latin typeface="Times New Roman" panose="02020603050405020304" pitchFamily="18" charset="0"/>
                          <a:cs typeface="Times New Roman" panose="02020603050405020304" pitchFamily="18" charset="0"/>
                        </a:rPr>
                        <a:t>Although AVSSA significantly improves prediction performance, its reliance on specific swarm intelligence algorithms and the imbalance in data distribution may limit its effectiveness in datasets that differ from those used in experiments.</a:t>
                      </a:r>
                      <a:endParaRPr lang="en-IN" sz="2400" dirty="0">
                        <a:solidFill>
                          <a:schemeClr val="bg1"/>
                        </a:solidFill>
                        <a:latin typeface="Times New Roman" panose="02020603050405020304" pitchFamily="18" charset="0"/>
                        <a:cs typeface="Times New Roman" panose="02020603050405020304" pitchFamily="18" charset="0"/>
                      </a:endParaRPr>
                    </a:p>
                  </a:txBody>
                  <a:tcPr marL="89764" marR="89764" marT="44884" marB="44884"/>
                </a:tc>
                <a:tc>
                  <a:txBody>
                    <a:bodyPr/>
                    <a:lstStyle/>
                    <a:p>
                      <a:pPr>
                        <a:lnSpc>
                          <a:spcPct val="150000"/>
                        </a:lnSpc>
                      </a:pPr>
                      <a:r>
                        <a:rPr lang="en-US" sz="2400" dirty="0">
                          <a:latin typeface="Times New Roman" panose="02020603050405020304" pitchFamily="18" charset="0"/>
                          <a:cs typeface="Times New Roman" panose="02020603050405020304" pitchFamily="18" charset="0"/>
                        </a:rPr>
                        <a:t>The AVSEB model, optimized by AVSSA, outperformed four other advanced comparison algorithms across 15 open software defect datasets, showing superior prediction accuracy and statistical significance through tests like Friedman ranking.</a:t>
                      </a:r>
                      <a:endParaRPr lang="en-IN" sz="2400" dirty="0">
                        <a:solidFill>
                          <a:schemeClr val="bg1"/>
                        </a:solidFill>
                        <a:latin typeface="Times New Roman" panose="02020603050405020304" pitchFamily="18" charset="0"/>
                        <a:cs typeface="Times New Roman" panose="02020603050405020304" pitchFamily="18" charset="0"/>
                      </a:endParaRPr>
                    </a:p>
                  </a:txBody>
                  <a:tcPr marL="89764" marR="89764" marT="44884" marB="44884"/>
                </a:tc>
                <a:tc>
                  <a:txBody>
                    <a:bodyPr/>
                    <a:lstStyle/>
                    <a:p>
                      <a:pPr>
                        <a:lnSpc>
                          <a:spcPct val="150000"/>
                        </a:lnSpc>
                      </a:pPr>
                      <a:r>
                        <a:rPr lang="en-IN" sz="2400" dirty="0">
                          <a:latin typeface="Times New Roman" panose="02020603050405020304" pitchFamily="18" charset="0"/>
                          <a:cs typeface="Times New Roman" panose="02020603050405020304" pitchFamily="18" charset="0"/>
                          <a:hlinkClick r:id="rId2"/>
                        </a:rPr>
                        <a:t>https://link.springer.com/article/10.1007/s13042-022-01740-2</a:t>
                      </a:r>
                      <a:r>
                        <a:rPr lang="en-IN" sz="2400" dirty="0">
                          <a:latin typeface="Times New Roman" panose="02020603050405020304" pitchFamily="18" charset="0"/>
                          <a:cs typeface="Times New Roman" panose="02020603050405020304" pitchFamily="18" charset="0"/>
                        </a:rPr>
                        <a:t> </a:t>
                      </a:r>
                      <a:endParaRPr lang="en-IN" sz="2400" dirty="0">
                        <a:solidFill>
                          <a:schemeClr val="bg1"/>
                        </a:solidFill>
                        <a:latin typeface="Times New Roman" panose="02020603050405020304" pitchFamily="18" charset="0"/>
                        <a:cs typeface="Times New Roman" panose="02020603050405020304" pitchFamily="18" charset="0"/>
                      </a:endParaRPr>
                    </a:p>
                  </a:txBody>
                  <a:tcPr marL="89764" marR="89764" marT="44884" marB="44884"/>
                </a:tc>
                <a:extLst>
                  <a:ext uri="{0D108BD9-81ED-4DB2-BD59-A6C34878D82A}">
                    <a16:rowId xmlns:a16="http://schemas.microsoft.com/office/drawing/2014/main" val="1790775321"/>
                  </a:ext>
                </a:extLst>
              </a:tr>
            </a:tbl>
          </a:graphicData>
        </a:graphic>
      </p:graphicFrame>
    </p:spTree>
    <p:extLst>
      <p:ext uri="{BB962C8B-B14F-4D97-AF65-F5344CB8AC3E}">
        <p14:creationId xmlns:p14="http://schemas.microsoft.com/office/powerpoint/2010/main" val="19080903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73080" y="301940"/>
            <a:ext cx="15289968" cy="1296576"/>
          </a:xfrm>
        </p:spPr>
        <p:txBody>
          <a:bodyPr/>
          <a:lstStyle/>
          <a:p>
            <a:pPr algn="ctr"/>
            <a:r>
              <a:rPr lang="en-US" sz="7066" dirty="0">
                <a:solidFill>
                  <a:srgbClr val="000000"/>
                </a:solidFill>
                <a:latin typeface="Times New Roman" pitchFamily="18" charset="0"/>
                <a:cs typeface="Times New Roman" pitchFamily="18" charset="0"/>
              </a:rPr>
              <a:t>LITERATURE SURVEY</a:t>
            </a:r>
            <a:endParaRPr lang="en-US" dirty="0">
              <a:solidFill>
                <a:schemeClr val="tx1"/>
              </a:solidFill>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875289232"/>
              </p:ext>
            </p:extLst>
          </p:nvPr>
        </p:nvGraphicFramePr>
        <p:xfrm>
          <a:off x="574601" y="2448024"/>
          <a:ext cx="16773925" cy="7226911"/>
        </p:xfrm>
        <a:graphic>
          <a:graphicData uri="http://schemas.openxmlformats.org/drawingml/2006/table">
            <a:tbl>
              <a:tblPr firstRow="1" bandRow="1">
                <a:tableStyleId>{69C7853C-536D-4A76-A0AE-DD22124D55A5}</a:tableStyleId>
              </a:tblPr>
              <a:tblGrid>
                <a:gridCol w="2365554">
                  <a:extLst>
                    <a:ext uri="{9D8B030D-6E8A-4147-A177-3AD203B41FA5}">
                      <a16:colId xmlns:a16="http://schemas.microsoft.com/office/drawing/2014/main" val="344574373"/>
                    </a:ext>
                  </a:extLst>
                </a:gridCol>
                <a:gridCol w="2078819">
                  <a:extLst>
                    <a:ext uri="{9D8B030D-6E8A-4147-A177-3AD203B41FA5}">
                      <a16:colId xmlns:a16="http://schemas.microsoft.com/office/drawing/2014/main" val="4082353162"/>
                    </a:ext>
                  </a:extLst>
                </a:gridCol>
                <a:gridCol w="3620523">
                  <a:extLst>
                    <a:ext uri="{9D8B030D-6E8A-4147-A177-3AD203B41FA5}">
                      <a16:colId xmlns:a16="http://schemas.microsoft.com/office/drawing/2014/main" val="3049379202"/>
                    </a:ext>
                  </a:extLst>
                </a:gridCol>
                <a:gridCol w="3384376">
                  <a:extLst>
                    <a:ext uri="{9D8B030D-6E8A-4147-A177-3AD203B41FA5}">
                      <a16:colId xmlns:a16="http://schemas.microsoft.com/office/drawing/2014/main" val="3466224569"/>
                    </a:ext>
                  </a:extLst>
                </a:gridCol>
                <a:gridCol w="3259044">
                  <a:extLst>
                    <a:ext uri="{9D8B030D-6E8A-4147-A177-3AD203B41FA5}">
                      <a16:colId xmlns:a16="http://schemas.microsoft.com/office/drawing/2014/main" val="4020165895"/>
                    </a:ext>
                  </a:extLst>
                </a:gridCol>
                <a:gridCol w="2065609">
                  <a:extLst>
                    <a:ext uri="{9D8B030D-6E8A-4147-A177-3AD203B41FA5}">
                      <a16:colId xmlns:a16="http://schemas.microsoft.com/office/drawing/2014/main" val="4145134274"/>
                    </a:ext>
                  </a:extLst>
                </a:gridCol>
              </a:tblGrid>
              <a:tr h="847084">
                <a:tc>
                  <a:txBody>
                    <a:bodyPr/>
                    <a:lstStyle/>
                    <a:p>
                      <a:pPr algn="ctr"/>
                      <a:r>
                        <a:rPr lang="en-US" sz="3500" dirty="0">
                          <a:latin typeface="Times New Roman" panose="02020603050405020304" pitchFamily="18" charset="0"/>
                          <a:cs typeface="Times New Roman" panose="02020603050405020304" pitchFamily="18" charset="0"/>
                        </a:rPr>
                        <a:t>Title</a:t>
                      </a:r>
                      <a:endParaRPr lang="en-IN" sz="3500" dirty="0">
                        <a:solidFill>
                          <a:srgbClr val="FFC000"/>
                        </a:solidFill>
                        <a:latin typeface="Times New Roman" panose="02020603050405020304" pitchFamily="18" charset="0"/>
                        <a:cs typeface="Times New Roman" panose="02020603050405020304" pitchFamily="18" charset="0"/>
                      </a:endParaRPr>
                    </a:p>
                  </a:txBody>
                  <a:tcPr marL="89764" marR="89764" marT="44884" marB="44884"/>
                </a:tc>
                <a:tc>
                  <a:txBody>
                    <a:bodyPr/>
                    <a:lstStyle/>
                    <a:p>
                      <a:pPr algn="ctr"/>
                      <a:r>
                        <a:rPr lang="en-US" sz="3500" dirty="0">
                          <a:latin typeface="Times New Roman" panose="02020603050405020304" pitchFamily="18" charset="0"/>
                          <a:cs typeface="Times New Roman" panose="02020603050405020304" pitchFamily="18" charset="0"/>
                        </a:rPr>
                        <a:t>Author</a:t>
                      </a:r>
                      <a:endParaRPr lang="en-IN" sz="3500" dirty="0">
                        <a:solidFill>
                          <a:srgbClr val="FFC000"/>
                        </a:solidFill>
                        <a:latin typeface="Times New Roman" panose="02020603050405020304" pitchFamily="18" charset="0"/>
                        <a:cs typeface="Times New Roman" panose="02020603050405020304" pitchFamily="18" charset="0"/>
                      </a:endParaRPr>
                    </a:p>
                  </a:txBody>
                  <a:tcPr marL="89764" marR="89764" marT="44884" marB="44884"/>
                </a:tc>
                <a:tc>
                  <a:txBody>
                    <a:bodyPr/>
                    <a:lstStyle/>
                    <a:p>
                      <a:pPr algn="ctr"/>
                      <a:r>
                        <a:rPr lang="en-US" sz="3500" dirty="0">
                          <a:latin typeface="Times New Roman" panose="02020603050405020304" pitchFamily="18" charset="0"/>
                          <a:cs typeface="Times New Roman" panose="02020603050405020304" pitchFamily="18" charset="0"/>
                        </a:rPr>
                        <a:t>Methodology</a:t>
                      </a:r>
                      <a:endParaRPr lang="en-IN" sz="3500" dirty="0">
                        <a:solidFill>
                          <a:srgbClr val="FFC000"/>
                        </a:solidFill>
                        <a:latin typeface="Times New Roman" panose="02020603050405020304" pitchFamily="18" charset="0"/>
                        <a:cs typeface="Times New Roman" panose="02020603050405020304" pitchFamily="18" charset="0"/>
                      </a:endParaRPr>
                    </a:p>
                  </a:txBody>
                  <a:tcPr marL="89764" marR="89764" marT="44884" marB="44884"/>
                </a:tc>
                <a:tc>
                  <a:txBody>
                    <a:bodyPr/>
                    <a:lstStyle/>
                    <a:p>
                      <a:pPr algn="ctr"/>
                      <a:r>
                        <a:rPr lang="en-US" sz="3500" dirty="0">
                          <a:latin typeface="Times New Roman" panose="02020603050405020304" pitchFamily="18" charset="0"/>
                          <a:cs typeface="Times New Roman" panose="02020603050405020304" pitchFamily="18" charset="0"/>
                        </a:rPr>
                        <a:t>Drawbacks</a:t>
                      </a:r>
                      <a:endParaRPr lang="en-IN" sz="3500" dirty="0">
                        <a:solidFill>
                          <a:srgbClr val="FFC000"/>
                        </a:solidFill>
                        <a:latin typeface="Times New Roman" panose="02020603050405020304" pitchFamily="18" charset="0"/>
                        <a:cs typeface="Times New Roman" panose="02020603050405020304" pitchFamily="18" charset="0"/>
                      </a:endParaRPr>
                    </a:p>
                  </a:txBody>
                  <a:tcPr marL="89764" marR="89764" marT="44884" marB="44884"/>
                </a:tc>
                <a:tc>
                  <a:txBody>
                    <a:bodyPr/>
                    <a:lstStyle/>
                    <a:p>
                      <a:pPr algn="ctr"/>
                      <a:r>
                        <a:rPr lang="en-US" sz="3500" dirty="0">
                          <a:latin typeface="Times New Roman" panose="02020603050405020304" pitchFamily="18" charset="0"/>
                          <a:cs typeface="Times New Roman" panose="02020603050405020304" pitchFamily="18" charset="0"/>
                        </a:rPr>
                        <a:t>Result</a:t>
                      </a:r>
                      <a:endParaRPr lang="en-IN" sz="3500" dirty="0">
                        <a:solidFill>
                          <a:srgbClr val="FFC000"/>
                        </a:solidFill>
                        <a:latin typeface="Times New Roman" panose="02020603050405020304" pitchFamily="18" charset="0"/>
                        <a:cs typeface="Times New Roman" panose="02020603050405020304" pitchFamily="18" charset="0"/>
                      </a:endParaRPr>
                    </a:p>
                  </a:txBody>
                  <a:tcPr marL="89764" marR="89764" marT="44884" marB="44884"/>
                </a:tc>
                <a:tc>
                  <a:txBody>
                    <a:bodyPr/>
                    <a:lstStyle/>
                    <a:p>
                      <a:pPr algn="ctr"/>
                      <a:r>
                        <a:rPr lang="en-US" sz="3500" dirty="0">
                          <a:latin typeface="Times New Roman" panose="02020603050405020304" pitchFamily="18" charset="0"/>
                          <a:cs typeface="Times New Roman" panose="02020603050405020304" pitchFamily="18" charset="0"/>
                        </a:rPr>
                        <a:t>Link</a:t>
                      </a:r>
                      <a:endParaRPr lang="en-IN" sz="3500" dirty="0">
                        <a:solidFill>
                          <a:srgbClr val="FFC000"/>
                        </a:solidFill>
                        <a:latin typeface="Times New Roman" panose="02020603050405020304" pitchFamily="18" charset="0"/>
                        <a:cs typeface="Times New Roman" panose="02020603050405020304" pitchFamily="18" charset="0"/>
                      </a:endParaRPr>
                    </a:p>
                  </a:txBody>
                  <a:tcPr marL="89764" marR="89764" marT="44884" marB="44884"/>
                </a:tc>
                <a:extLst>
                  <a:ext uri="{0D108BD9-81ED-4DB2-BD59-A6C34878D82A}">
                    <a16:rowId xmlns:a16="http://schemas.microsoft.com/office/drawing/2014/main" val="1983519955"/>
                  </a:ext>
                </a:extLst>
              </a:tr>
              <a:tr h="6379827">
                <a:tc>
                  <a:txBody>
                    <a:bodyPr/>
                    <a:lstStyle/>
                    <a:p>
                      <a:pPr>
                        <a:lnSpc>
                          <a:spcPct val="150000"/>
                        </a:lnSpc>
                      </a:pPr>
                      <a:r>
                        <a:rPr lang="en-US" sz="2400" dirty="0">
                          <a:latin typeface="Times New Roman" panose="02020603050405020304" pitchFamily="18" charset="0"/>
                          <a:cs typeface="Times New Roman" panose="02020603050405020304" pitchFamily="18" charset="0"/>
                        </a:rPr>
                        <a:t>3PcGE: 3-parent child-based genetic evolution for software defect prediction</a:t>
                      </a:r>
                      <a:endParaRPr lang="en-IN" sz="2400" dirty="0">
                        <a:solidFill>
                          <a:schemeClr val="bg1"/>
                        </a:solidFill>
                        <a:latin typeface="Times New Roman" panose="02020603050405020304" pitchFamily="18" charset="0"/>
                        <a:cs typeface="Times New Roman" panose="02020603050405020304" pitchFamily="18" charset="0"/>
                      </a:endParaRPr>
                    </a:p>
                  </a:txBody>
                  <a:tcPr marL="89764" marR="89764" marT="44884" marB="44884"/>
                </a:tc>
                <a:tc>
                  <a:txBody>
                    <a:bodyPr/>
                    <a:lstStyle/>
                    <a:p>
                      <a:pPr>
                        <a:lnSpc>
                          <a:spcPct val="150000"/>
                        </a:lnSpc>
                      </a:pPr>
                      <a:r>
                        <a:rPr lang="en-US" sz="2400" dirty="0">
                          <a:latin typeface="Times New Roman" panose="02020603050405020304" pitchFamily="18" charset="0"/>
                          <a:cs typeface="Times New Roman" panose="02020603050405020304" pitchFamily="18" charset="0"/>
                        </a:rPr>
                        <a:t>S. </a:t>
                      </a:r>
                      <a:r>
                        <a:rPr lang="en-US" sz="2400" dirty="0" err="1">
                          <a:latin typeface="Times New Roman" panose="02020603050405020304" pitchFamily="18" charset="0"/>
                          <a:cs typeface="Times New Roman" panose="02020603050405020304" pitchFamily="18" charset="0"/>
                        </a:rPr>
                        <a:t>Goyal</a:t>
                      </a:r>
                      <a:endParaRPr lang="en-IN" sz="2400" dirty="0">
                        <a:solidFill>
                          <a:schemeClr val="bg1"/>
                        </a:solidFill>
                        <a:latin typeface="Times New Roman" panose="02020603050405020304" pitchFamily="18" charset="0"/>
                        <a:cs typeface="Times New Roman" panose="02020603050405020304" pitchFamily="18" charset="0"/>
                      </a:endParaRPr>
                    </a:p>
                  </a:txBody>
                  <a:tcPr marL="89764" marR="89764" marT="44884" marB="44884"/>
                </a:tc>
                <a:tc>
                  <a:txBody>
                    <a:bodyPr/>
                    <a:lstStyle/>
                    <a:p>
                      <a:pPr>
                        <a:lnSpc>
                          <a:spcPct val="150000"/>
                        </a:lnSpc>
                      </a:pPr>
                      <a:r>
                        <a:rPr lang="en-US" sz="2400" dirty="0">
                          <a:latin typeface="Times New Roman" panose="02020603050405020304" pitchFamily="18" charset="0"/>
                          <a:cs typeface="Times New Roman" panose="02020603050405020304" pitchFamily="18" charset="0"/>
                        </a:rPr>
                        <a:t>The paper proposes 3PcGE, a feature selection method inspired by a three-parent biological evolution process, to optimize software defect prediction models by selecting the best feature subsets using a multi-objective optimization approach.</a:t>
                      </a:r>
                      <a:endParaRPr lang="en-IN" sz="2400" dirty="0">
                        <a:solidFill>
                          <a:schemeClr val="bg1"/>
                        </a:solidFill>
                        <a:latin typeface="Times New Roman" panose="02020603050405020304" pitchFamily="18" charset="0"/>
                        <a:cs typeface="Times New Roman" panose="02020603050405020304" pitchFamily="18" charset="0"/>
                      </a:endParaRPr>
                    </a:p>
                  </a:txBody>
                  <a:tcPr marL="89764" marR="89764" marT="44884" marB="44884"/>
                </a:tc>
                <a:tc>
                  <a:txBody>
                    <a:bodyPr/>
                    <a:lstStyle/>
                    <a:p>
                      <a:pPr>
                        <a:lnSpc>
                          <a:spcPct val="150000"/>
                        </a:lnSpc>
                      </a:pPr>
                      <a:r>
                        <a:rPr lang="en-US" sz="2400" dirty="0">
                          <a:latin typeface="Times New Roman" panose="02020603050405020304" pitchFamily="18" charset="0"/>
                          <a:cs typeface="Times New Roman" panose="02020603050405020304" pitchFamily="18" charset="0"/>
                        </a:rPr>
                        <a:t>While 3PcGE improves feature selection, its reliance on evolutionary algorithms for optimization may be computationally expensive, and its performance could vary with different datasets or software development environments.</a:t>
                      </a:r>
                      <a:endParaRPr lang="en-IN" sz="2400" dirty="0">
                        <a:solidFill>
                          <a:schemeClr val="bg1"/>
                        </a:solidFill>
                        <a:latin typeface="Times New Roman" panose="02020603050405020304" pitchFamily="18" charset="0"/>
                        <a:cs typeface="Times New Roman" panose="02020603050405020304" pitchFamily="18" charset="0"/>
                      </a:endParaRPr>
                    </a:p>
                  </a:txBody>
                  <a:tcPr marL="89764" marR="89764" marT="44884" marB="44884"/>
                </a:tc>
                <a:tc>
                  <a:txBody>
                    <a:bodyPr/>
                    <a:lstStyle/>
                    <a:p>
                      <a:pPr>
                        <a:lnSpc>
                          <a:spcPct val="150000"/>
                        </a:lnSpc>
                      </a:pPr>
                      <a:r>
                        <a:rPr lang="en-US" sz="2400" dirty="0">
                          <a:latin typeface="Times New Roman" panose="02020603050405020304" pitchFamily="18" charset="0"/>
                          <a:cs typeface="Times New Roman" panose="02020603050405020304" pitchFamily="18" charset="0"/>
                        </a:rPr>
                        <a:t>The 3PcGE approach outperformed both filter-based and wrapper-based feature selection techniques by 18.98% and 17.5%, respectively, in terms of AUC. It also showed better accuracy compared to the NSGA-II baseline.</a:t>
                      </a:r>
                      <a:endParaRPr lang="en-IN" sz="2400" dirty="0">
                        <a:solidFill>
                          <a:schemeClr val="bg1"/>
                        </a:solidFill>
                        <a:latin typeface="Times New Roman" panose="02020603050405020304" pitchFamily="18" charset="0"/>
                        <a:cs typeface="Times New Roman" panose="02020603050405020304" pitchFamily="18" charset="0"/>
                      </a:endParaRPr>
                    </a:p>
                  </a:txBody>
                  <a:tcPr marL="89764" marR="89764" marT="44884" marB="44884"/>
                </a:tc>
                <a:tc>
                  <a:txBody>
                    <a:bodyPr/>
                    <a:lstStyle/>
                    <a:p>
                      <a:pPr>
                        <a:lnSpc>
                          <a:spcPct val="150000"/>
                        </a:lnSpc>
                      </a:pPr>
                      <a:r>
                        <a:rPr lang="en-IN" sz="2400" dirty="0">
                          <a:latin typeface="Times New Roman" panose="02020603050405020304" pitchFamily="18" charset="0"/>
                          <a:cs typeface="Times New Roman" panose="02020603050405020304" pitchFamily="18" charset="0"/>
                          <a:hlinkClick r:id="rId2"/>
                        </a:rPr>
                        <a:t>https://link.springer.com/article/10.1007/s11334-021-00427-1</a:t>
                      </a:r>
                      <a:r>
                        <a:rPr lang="en-IN" sz="2400" dirty="0">
                          <a:latin typeface="Times New Roman" panose="02020603050405020304" pitchFamily="18" charset="0"/>
                          <a:cs typeface="Times New Roman" panose="02020603050405020304" pitchFamily="18" charset="0"/>
                        </a:rPr>
                        <a:t> </a:t>
                      </a:r>
                      <a:endParaRPr lang="en-IN" sz="2400" dirty="0">
                        <a:solidFill>
                          <a:schemeClr val="bg1"/>
                        </a:solidFill>
                        <a:latin typeface="Times New Roman" panose="02020603050405020304" pitchFamily="18" charset="0"/>
                        <a:cs typeface="Times New Roman" panose="02020603050405020304" pitchFamily="18" charset="0"/>
                      </a:endParaRPr>
                    </a:p>
                  </a:txBody>
                  <a:tcPr marL="89764" marR="89764" marT="44884" marB="44884"/>
                </a:tc>
                <a:extLst>
                  <a:ext uri="{0D108BD9-81ED-4DB2-BD59-A6C34878D82A}">
                    <a16:rowId xmlns:a16="http://schemas.microsoft.com/office/drawing/2014/main" val="1790775321"/>
                  </a:ext>
                </a:extLst>
              </a:tr>
            </a:tbl>
          </a:graphicData>
        </a:graphic>
      </p:graphicFrame>
    </p:spTree>
    <p:extLst>
      <p:ext uri="{BB962C8B-B14F-4D97-AF65-F5344CB8AC3E}">
        <p14:creationId xmlns:p14="http://schemas.microsoft.com/office/powerpoint/2010/main" val="34670660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7200" b="1">
                <a:solidFill>
                  <a:srgbClr val="000000"/>
                </a:solidFill>
                <a:latin typeface="Times New Roman" panose="02020603050405020304" pitchFamily="18" charset="0"/>
                <a:cs typeface="Times New Roman" panose="02020603050405020304" pitchFamily="18" charset="0"/>
              </a:rPr>
              <a:t>EXISTING SYSTEM </a:t>
            </a:r>
          </a:p>
        </p:txBody>
      </p:sp>
      <p:sp>
        <p:nvSpPr>
          <p:cNvPr id="3" name="Content Placeholder 2"/>
          <p:cNvSpPr>
            <a:spLocks noGrp="1"/>
          </p:cNvSpPr>
          <p:nvPr>
            <p:ph sz="quarter" idx="1"/>
          </p:nvPr>
        </p:nvSpPr>
        <p:spPr>
          <a:xfrm>
            <a:off x="790625" y="2597150"/>
            <a:ext cx="16201799" cy="6503035"/>
          </a:xfrm>
        </p:spPr>
        <p:txBody>
          <a:bodyPr>
            <a:noAutofit/>
          </a:bodyPr>
          <a:lstStyle/>
          <a:p>
            <a:pPr algn="just">
              <a:lnSpc>
                <a:spcPct val="150000"/>
              </a:lnSpc>
              <a:buClr>
                <a:srgbClr val="0D0D0D"/>
              </a:buClr>
              <a:buSzPct val="100000"/>
              <a:buFont typeface="Wingdings" panose="05000000000000000000" charset="0"/>
              <a:buChar char="Ø"/>
            </a:pPr>
            <a:r>
              <a:rPr lang="en-US" sz="2600" dirty="0">
                <a:solidFill>
                  <a:srgbClr val="000000"/>
                </a:solidFill>
                <a:latin typeface="Times New Roman" panose="02020603050405020304" pitchFamily="18" charset="0"/>
                <a:cs typeface="Times New Roman" panose="02020603050405020304" pitchFamily="18" charset="0"/>
              </a:rPr>
              <a:t>Existing systems for software defect prediction have explored various approaches to enhance prediction accuracy and efficiency. One approach combines feature selection with a support vector machine (SVM) algorithm, utilizing a method that emphasizes minimal absolute value compression. This model integrates feature selection with SVM to improve prediction accuracy, outperforming traditional methods in both accuracy and speed. </a:t>
            </a:r>
          </a:p>
          <a:p>
            <a:pPr algn="just">
              <a:lnSpc>
                <a:spcPct val="150000"/>
              </a:lnSpc>
              <a:buClr>
                <a:srgbClr val="0D0D0D"/>
              </a:buClr>
              <a:buSzPct val="100000"/>
              <a:buFont typeface="Wingdings" panose="05000000000000000000" charset="0"/>
              <a:buChar char="Ø"/>
            </a:pPr>
            <a:r>
              <a:rPr lang="en-US" sz="2600" dirty="0">
                <a:solidFill>
                  <a:srgbClr val="000000"/>
                </a:solidFill>
                <a:latin typeface="Times New Roman" panose="02020603050405020304" pitchFamily="18" charset="0"/>
                <a:cs typeface="Times New Roman" panose="02020603050405020304" pitchFamily="18" charset="0"/>
              </a:rPr>
              <a:t>Another approach involves a cloud-based framework designed for real-time defect prediction, where different back-propagation training algorithms are compared. Bayesian regularization (BR) is identified as the most effective training algorithm within this framework. </a:t>
            </a:r>
          </a:p>
          <a:p>
            <a:pPr algn="just">
              <a:lnSpc>
                <a:spcPct val="150000"/>
              </a:lnSpc>
              <a:buClr>
                <a:srgbClr val="0D0D0D"/>
              </a:buClr>
              <a:buSzPct val="100000"/>
              <a:buFont typeface="Wingdings" panose="05000000000000000000" charset="0"/>
              <a:buChar char="Ø"/>
            </a:pPr>
            <a:r>
              <a:rPr lang="en-US" sz="2600" dirty="0">
                <a:solidFill>
                  <a:srgbClr val="000000"/>
                </a:solidFill>
                <a:latin typeface="Times New Roman" panose="02020603050405020304" pitchFamily="18" charset="0"/>
                <a:cs typeface="Times New Roman" panose="02020603050405020304" pitchFamily="18" charset="0"/>
              </a:rPr>
              <a:t>The system also incorporates a fuzzy layer to optimize the selection of training functions based on performance metrics. Evaluations using publicly available datasets demonstrate that BR surpasses other training algorithms and commonly used machine-learning techniques in terms of performance. These systems aim to improve the reliability and efficiency of defect prediction in software development.</a:t>
            </a:r>
            <a:endParaRPr lang="en-US" sz="26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7200" b="1" dirty="0">
                <a:solidFill>
                  <a:srgbClr val="000000"/>
                </a:solidFill>
                <a:latin typeface="Times New Roman" panose="02020603050405020304" pitchFamily="18" charset="0"/>
                <a:cs typeface="Times New Roman" panose="02020603050405020304" pitchFamily="18" charset="0"/>
              </a:rPr>
              <a:t>DRAWBACKS OF EXISTING SYSTEM </a:t>
            </a:r>
          </a:p>
        </p:txBody>
      </p:sp>
      <p:sp>
        <p:nvSpPr>
          <p:cNvPr id="3" name="Content Placeholder 2"/>
          <p:cNvSpPr>
            <a:spLocks noGrp="1"/>
          </p:cNvSpPr>
          <p:nvPr>
            <p:ph sz="quarter" idx="1"/>
          </p:nvPr>
        </p:nvSpPr>
        <p:spPr>
          <a:xfrm>
            <a:off x="1654721" y="2597150"/>
            <a:ext cx="15337703" cy="6503035"/>
          </a:xfrm>
        </p:spPr>
        <p:txBody>
          <a:bodyPr>
            <a:noAutofit/>
          </a:bodyPr>
          <a:lstStyle/>
          <a:p>
            <a:pPr algn="just">
              <a:lnSpc>
                <a:spcPct val="150000"/>
              </a:lnSpc>
              <a:buClr>
                <a:srgbClr val="0D0D0D"/>
              </a:buClr>
              <a:buSzPct val="100000"/>
              <a:buFont typeface="Wingdings" panose="05000000000000000000" charset="0"/>
              <a:buChar char="Ø"/>
            </a:pPr>
            <a:r>
              <a:rPr lang="en-US" sz="2500" dirty="0">
                <a:solidFill>
                  <a:srgbClr val="000000"/>
                </a:solidFill>
                <a:latin typeface="Times New Roman" panose="02020603050405020304" pitchFamily="18" charset="0"/>
                <a:cs typeface="Times New Roman" panose="02020603050405020304" pitchFamily="18" charset="0"/>
              </a:rPr>
              <a:t>The feature selection combined with SVM approach may not address the diverse patterns in defect data, limiting its ability to generalize across various datasets and potentially reducing accuracy in complex scenarios.</a:t>
            </a:r>
          </a:p>
          <a:p>
            <a:pPr algn="just">
              <a:lnSpc>
                <a:spcPct val="150000"/>
              </a:lnSpc>
              <a:buClr>
                <a:srgbClr val="0D0D0D"/>
              </a:buClr>
              <a:buSzPct val="100000"/>
              <a:buFont typeface="Wingdings" panose="05000000000000000000" charset="0"/>
              <a:buChar char="Ø"/>
            </a:pPr>
            <a:r>
              <a:rPr lang="en-US" sz="2500" dirty="0">
                <a:solidFill>
                  <a:srgbClr val="000000"/>
                </a:solidFill>
                <a:latin typeface="Times New Roman" panose="02020603050405020304" pitchFamily="18" charset="0"/>
                <a:cs typeface="Times New Roman" panose="02020603050405020304" pitchFamily="18" charset="0"/>
              </a:rPr>
              <a:t>The cloud-based framework with Bayesian regularization (BR) relies on specific training algorithms and may not fully leverage the benefits of multiple classifiers, potentially missing improvements in prediction performance that diverse algorithms could offer.</a:t>
            </a:r>
          </a:p>
          <a:p>
            <a:pPr algn="just">
              <a:lnSpc>
                <a:spcPct val="150000"/>
              </a:lnSpc>
              <a:buClr>
                <a:srgbClr val="0D0D0D"/>
              </a:buClr>
              <a:buSzPct val="100000"/>
              <a:buFont typeface="Wingdings" panose="05000000000000000000" charset="0"/>
              <a:buChar char="Ø"/>
            </a:pPr>
            <a:r>
              <a:rPr lang="en-US" sz="2500" dirty="0">
                <a:solidFill>
                  <a:srgbClr val="000000"/>
                </a:solidFill>
                <a:latin typeface="Times New Roman" panose="02020603050405020304" pitchFamily="18" charset="0"/>
                <a:cs typeface="Times New Roman" panose="02020603050405020304" pitchFamily="18" charset="0"/>
              </a:rPr>
              <a:t>The use of fuzzy layers for training function selection might add complexity without significantly enhancing prediction accuracy, potentially making the system less efficient and harder to maintain.</a:t>
            </a:r>
          </a:p>
          <a:p>
            <a:pPr algn="just">
              <a:lnSpc>
                <a:spcPct val="150000"/>
              </a:lnSpc>
              <a:buClr>
                <a:srgbClr val="0D0D0D"/>
              </a:buClr>
              <a:buSzPct val="100000"/>
              <a:buFont typeface="Wingdings" panose="05000000000000000000" charset="0"/>
              <a:buChar char="Ø"/>
            </a:pPr>
            <a:r>
              <a:rPr lang="en-US" sz="2500" dirty="0">
                <a:solidFill>
                  <a:srgbClr val="000000"/>
                </a:solidFill>
                <a:latin typeface="Times New Roman" panose="02020603050405020304" pitchFamily="18" charset="0"/>
                <a:cs typeface="Times New Roman" panose="02020603050405020304" pitchFamily="18" charset="0"/>
              </a:rPr>
              <a:t>Existing systems evaluated with public datasets may not cover all possible defect scenarios, leading to possible overfitting and reduced effectiveness in real-world software development environments with diverse and evolving datasets.</a:t>
            </a:r>
          </a:p>
        </p:txBody>
      </p:sp>
    </p:spTree>
    <p:extLst>
      <p:ext uri="{BB962C8B-B14F-4D97-AF65-F5344CB8AC3E}">
        <p14:creationId xmlns:p14="http://schemas.microsoft.com/office/powerpoint/2010/main" val="42677370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7000" b="1">
                <a:solidFill>
                  <a:srgbClr val="000000"/>
                </a:solidFill>
                <a:latin typeface="Times New Roman" panose="02020603050405020304" pitchFamily="18" charset="0"/>
                <a:cs typeface="Times New Roman" panose="02020603050405020304" pitchFamily="18" charset="0"/>
              </a:rPr>
              <a:t>PROPOSED SYSTEM </a:t>
            </a:r>
          </a:p>
        </p:txBody>
      </p:sp>
      <p:sp>
        <p:nvSpPr>
          <p:cNvPr id="3" name="Content Placeholder 2"/>
          <p:cNvSpPr>
            <a:spLocks noGrp="1"/>
          </p:cNvSpPr>
          <p:nvPr>
            <p:ph sz="quarter" idx="1"/>
          </p:nvPr>
        </p:nvSpPr>
        <p:spPr>
          <a:xfrm>
            <a:off x="2014855" y="2519680"/>
            <a:ext cx="13762355" cy="6607810"/>
          </a:xfrm>
        </p:spPr>
        <p:txBody>
          <a:bodyPr>
            <a:noAutofit/>
          </a:bodyPr>
          <a:lstStyle/>
          <a:p>
            <a:pPr algn="just">
              <a:lnSpc>
                <a:spcPct val="150000"/>
              </a:lnSpc>
              <a:buClr>
                <a:srgbClr val="0D0D0D"/>
              </a:buClr>
              <a:buSzPct val="100000"/>
              <a:buFont typeface="Wingdings" panose="05000000000000000000" charset="0"/>
              <a:buChar char="Ø"/>
            </a:pPr>
            <a:r>
              <a:rPr lang="en-US" sz="2400" dirty="0">
                <a:solidFill>
                  <a:srgbClr val="000000"/>
                </a:solidFill>
                <a:latin typeface="Times New Roman" panose="02020603050405020304" pitchFamily="18" charset="0"/>
                <a:cs typeface="Times New Roman" panose="02020603050405020304" pitchFamily="18" charset="0"/>
              </a:rPr>
              <a:t>The proposed system aims to enhance software defect prediction through a sophisticated ensemble-based approach. This model integrates four core supervised machine learning algorithms: Random Forest, Support Vector Machine (SVM), Naïve Bayes, and Multi-Layer Perceptron (MLP). Each algorithm is optimized through iterative parameter tuning to maximize prediction accuracy. </a:t>
            </a:r>
          </a:p>
          <a:p>
            <a:pPr algn="just">
              <a:lnSpc>
                <a:spcPct val="150000"/>
              </a:lnSpc>
              <a:buClr>
                <a:srgbClr val="0D0D0D"/>
              </a:buClr>
              <a:buSzPct val="100000"/>
              <a:buFont typeface="Wingdings" panose="05000000000000000000" charset="0"/>
              <a:buChar char="Ø"/>
            </a:pPr>
            <a:r>
              <a:rPr lang="en-US" sz="2400" dirty="0">
                <a:solidFill>
                  <a:srgbClr val="000000"/>
                </a:solidFill>
                <a:latin typeface="Times New Roman" panose="02020603050405020304" pitchFamily="18" charset="0"/>
                <a:cs typeface="Times New Roman" panose="02020603050405020304" pitchFamily="18" charset="0"/>
              </a:rPr>
              <a:t>The predictions from these classifiers are then combined using a voting ensemble to make final predictions, improving overall reliability. Additionally, the system will utilize a Stacking Classifier, incorporating Decision Trees and Random Forest with LightGBM, to further refine and enhance prediction performance. </a:t>
            </a:r>
          </a:p>
          <a:p>
            <a:pPr algn="just">
              <a:lnSpc>
                <a:spcPct val="150000"/>
              </a:lnSpc>
              <a:buClr>
                <a:srgbClr val="0D0D0D"/>
              </a:buClr>
              <a:buSzPct val="100000"/>
              <a:buFont typeface="Wingdings" panose="05000000000000000000" charset="0"/>
              <a:buChar char="Ø"/>
            </a:pPr>
            <a:r>
              <a:rPr lang="en-US" sz="2400" dirty="0">
                <a:solidFill>
                  <a:srgbClr val="000000"/>
                </a:solidFill>
                <a:latin typeface="Times New Roman" panose="02020603050405020304" pitchFamily="18" charset="0"/>
                <a:cs typeface="Times New Roman" panose="02020603050405020304" pitchFamily="18" charset="0"/>
              </a:rPr>
              <a:t>The model will be evaluated using seven historical defect datasets from the NASA MDP repository: CM1, JM1, MC2, MW1, PC1, PC3, and PC4. This comprehensive approach aims to address limitations in existing prediction methods by leveraging multiple algorithms and ensemble techniques to achieve more accurate and reliable defect detection.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7000" b="1" dirty="0">
                <a:solidFill>
                  <a:srgbClr val="000000"/>
                </a:solidFill>
                <a:latin typeface="Times New Roman" panose="02020603050405020304" pitchFamily="18" charset="0"/>
                <a:cs typeface="Times New Roman" panose="02020603050405020304" pitchFamily="18" charset="0"/>
              </a:rPr>
              <a:t>BENEFITS OF PROPOSED SYSTEM </a:t>
            </a:r>
          </a:p>
        </p:txBody>
      </p:sp>
      <p:sp>
        <p:nvSpPr>
          <p:cNvPr id="3" name="Content Placeholder 2"/>
          <p:cNvSpPr>
            <a:spLocks noGrp="1"/>
          </p:cNvSpPr>
          <p:nvPr>
            <p:ph sz="quarter" idx="1"/>
          </p:nvPr>
        </p:nvSpPr>
        <p:spPr>
          <a:xfrm>
            <a:off x="2014855" y="2519680"/>
            <a:ext cx="13762355" cy="6607810"/>
          </a:xfrm>
        </p:spPr>
        <p:txBody>
          <a:bodyPr>
            <a:noAutofit/>
          </a:bodyPr>
          <a:lstStyle/>
          <a:p>
            <a:pPr algn="just">
              <a:lnSpc>
                <a:spcPct val="150000"/>
              </a:lnSpc>
              <a:buClr>
                <a:srgbClr val="0D0D0D"/>
              </a:buClr>
              <a:buSzPct val="100000"/>
              <a:buFont typeface="Wingdings" panose="05000000000000000000" charset="0"/>
              <a:buChar char="Ø"/>
            </a:pPr>
            <a:r>
              <a:rPr lang="en-US" sz="2400" dirty="0">
                <a:solidFill>
                  <a:srgbClr val="000000"/>
                </a:solidFill>
                <a:latin typeface="Times New Roman" panose="02020603050405020304" pitchFamily="18" charset="0"/>
                <a:cs typeface="Times New Roman" panose="02020603050405020304" pitchFamily="18" charset="0"/>
              </a:rPr>
              <a:t>Integrating Random Forest, SVM, Naïve Bayes, and MLP allows the proposed system to leverage the strengths of multiple algorithms, enhancing prediction accuracy and reliability through comprehensive analysis and optimization.</a:t>
            </a:r>
          </a:p>
          <a:p>
            <a:pPr algn="just">
              <a:lnSpc>
                <a:spcPct val="150000"/>
              </a:lnSpc>
              <a:buClr>
                <a:srgbClr val="0D0D0D"/>
              </a:buClr>
              <a:buSzPct val="100000"/>
              <a:buFont typeface="Wingdings" panose="05000000000000000000" charset="0"/>
              <a:buChar char="Ø"/>
            </a:pPr>
            <a:r>
              <a:rPr lang="en-US" sz="2400" dirty="0">
                <a:solidFill>
                  <a:srgbClr val="000000"/>
                </a:solidFill>
                <a:latin typeface="Times New Roman" panose="02020603050405020304" pitchFamily="18" charset="0"/>
                <a:cs typeface="Times New Roman" panose="02020603050405020304" pitchFamily="18" charset="0"/>
              </a:rPr>
              <a:t>The voting ensemble approach combines the strengths of individual classifiers, improving overall prediction performance and robustness by mitigating the weaknesses of any single model.</a:t>
            </a:r>
          </a:p>
          <a:p>
            <a:pPr algn="just">
              <a:lnSpc>
                <a:spcPct val="150000"/>
              </a:lnSpc>
              <a:buClr>
                <a:srgbClr val="0D0D0D"/>
              </a:buClr>
              <a:buSzPct val="100000"/>
              <a:buFont typeface="Wingdings" panose="05000000000000000000" charset="0"/>
              <a:buChar char="Ø"/>
            </a:pPr>
            <a:r>
              <a:rPr lang="en-US" sz="2400" dirty="0">
                <a:solidFill>
                  <a:srgbClr val="000000"/>
                </a:solidFill>
                <a:latin typeface="Times New Roman" panose="02020603050405020304" pitchFamily="18" charset="0"/>
                <a:cs typeface="Times New Roman" panose="02020603050405020304" pitchFamily="18" charset="0"/>
              </a:rPr>
              <a:t>Utilizing a Stacking Classifier with Decision Trees, Random Forest, and LightGBM provides advanced ensemble techniques that further refine predictions, addressing limitations of basic models and enhancing performance across diverse datasets.</a:t>
            </a:r>
          </a:p>
          <a:p>
            <a:pPr algn="just">
              <a:lnSpc>
                <a:spcPct val="150000"/>
              </a:lnSpc>
              <a:buClr>
                <a:srgbClr val="0D0D0D"/>
              </a:buClr>
              <a:buSzPct val="100000"/>
              <a:buFont typeface="Wingdings" panose="05000000000000000000" charset="0"/>
              <a:buChar char="Ø"/>
            </a:pPr>
            <a:r>
              <a:rPr lang="en-US" sz="2400" dirty="0">
                <a:solidFill>
                  <a:srgbClr val="000000"/>
                </a:solidFill>
                <a:latin typeface="Times New Roman" panose="02020603050405020304" pitchFamily="18" charset="0"/>
                <a:cs typeface="Times New Roman" panose="02020603050405020304" pitchFamily="18" charset="0"/>
              </a:rPr>
              <a:t>Evaluating the model with seven historical defect datasets from NASA ensures comprehensive testing and validation, demonstrating the system's ability to handle various defect patterns and improving generalizability to real-world scenarios.</a:t>
            </a:r>
          </a:p>
        </p:txBody>
      </p:sp>
    </p:spTree>
    <p:extLst>
      <p:ext uri="{BB962C8B-B14F-4D97-AF65-F5344CB8AC3E}">
        <p14:creationId xmlns:p14="http://schemas.microsoft.com/office/powerpoint/2010/main" val="5549075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60120" y="111760"/>
            <a:ext cx="16271875" cy="1497965"/>
          </a:xfrm>
        </p:spPr>
        <p:txBody>
          <a:bodyPr>
            <a:normAutofit/>
          </a:bodyPr>
          <a:lstStyle/>
          <a:p>
            <a:pPr algn="ctr"/>
            <a:r>
              <a:rPr lang="en-US" sz="7200" b="1">
                <a:solidFill>
                  <a:srgbClr val="000000"/>
                </a:solidFill>
                <a:latin typeface="Times New Roman" panose="02020603050405020304" pitchFamily="18" charset="0"/>
                <a:cs typeface="Times New Roman" panose="02020603050405020304" pitchFamily="18" charset="0"/>
              </a:rPr>
              <a:t>EXTENSION </a:t>
            </a:r>
          </a:p>
        </p:txBody>
      </p:sp>
      <p:sp>
        <p:nvSpPr>
          <p:cNvPr id="3" name="Content Placeholder 2"/>
          <p:cNvSpPr>
            <a:spLocks noGrp="1"/>
          </p:cNvSpPr>
          <p:nvPr>
            <p:ph sz="quarter" idx="1"/>
          </p:nvPr>
        </p:nvSpPr>
        <p:spPr>
          <a:xfrm>
            <a:off x="960119" y="2479675"/>
            <a:ext cx="16271875" cy="7169149"/>
          </a:xfrm>
        </p:spPr>
        <p:txBody>
          <a:bodyPr>
            <a:normAutofit fontScale="92500" lnSpcReduction="10000"/>
          </a:bodyPr>
          <a:lstStyle/>
          <a:p>
            <a:pPr marL="0" indent="0" algn="just">
              <a:lnSpc>
                <a:spcPct val="150000"/>
              </a:lnSpc>
              <a:buClr>
                <a:srgbClr val="0D0D0D"/>
              </a:buClr>
              <a:buSzPct val="100000"/>
              <a:buNone/>
            </a:pPr>
            <a:r>
              <a:rPr lang="en-US" sz="2800" dirty="0">
                <a:solidFill>
                  <a:srgbClr val="000000"/>
                </a:solidFill>
                <a:latin typeface="Times New Roman" panose="02020603050405020304" pitchFamily="18" charset="0"/>
                <a:cs typeface="Times New Roman" panose="02020603050405020304" pitchFamily="18" charset="0"/>
              </a:rPr>
              <a:t>We extended the base model by applying a Stacking Classifier combining Decision Tree, Random Forest, and LightGBM, improving prediction accuracy across datasets. The system is also integrated into a Flask-based front end, offering user authentication for secure testing and usage.</a:t>
            </a:r>
          </a:p>
          <a:p>
            <a:pPr marL="0" indent="0" algn="just">
              <a:lnSpc>
                <a:spcPct val="150000"/>
              </a:lnSpc>
              <a:buClr>
                <a:srgbClr val="0D0D0D"/>
              </a:buClr>
              <a:buSzPct val="100000"/>
              <a:buNone/>
            </a:pPr>
            <a:r>
              <a:rPr lang="en-US" sz="2800" b="1" dirty="0">
                <a:solidFill>
                  <a:srgbClr val="000000"/>
                </a:solidFill>
                <a:latin typeface="Times New Roman" panose="02020603050405020304" pitchFamily="18" charset="0"/>
                <a:cs typeface="Times New Roman" panose="02020603050405020304" pitchFamily="18" charset="0"/>
              </a:rPr>
              <a:t>Advantages:</a:t>
            </a:r>
          </a:p>
          <a:p>
            <a:pPr algn="just">
              <a:lnSpc>
                <a:spcPct val="150000"/>
              </a:lnSpc>
              <a:buClr>
                <a:srgbClr val="0D0D0D"/>
              </a:buClr>
              <a:buSzPct val="100000"/>
              <a:buFont typeface="Wingdings" panose="05000000000000000000" charset="0"/>
              <a:buChar char="Ø"/>
            </a:pPr>
            <a:r>
              <a:rPr lang="en-US" sz="2800" dirty="0">
                <a:solidFill>
                  <a:srgbClr val="000000"/>
                </a:solidFill>
                <a:latin typeface="Times New Roman" panose="02020603050405020304" pitchFamily="18" charset="0"/>
                <a:cs typeface="Times New Roman" panose="02020603050405020304" pitchFamily="18" charset="0"/>
              </a:rPr>
              <a:t>Stacking multiple classifiers significantly increases prediction accuracy by leveraging the strengths of diverse models.</a:t>
            </a:r>
          </a:p>
          <a:p>
            <a:pPr algn="just">
              <a:lnSpc>
                <a:spcPct val="150000"/>
              </a:lnSpc>
              <a:buClr>
                <a:srgbClr val="0D0D0D"/>
              </a:buClr>
              <a:buSzPct val="100000"/>
              <a:buFont typeface="Wingdings" panose="05000000000000000000" charset="0"/>
              <a:buChar char="Ø"/>
            </a:pPr>
            <a:r>
              <a:rPr lang="en-US" sz="2800" dirty="0">
                <a:solidFill>
                  <a:srgbClr val="000000"/>
                </a:solidFill>
                <a:latin typeface="Times New Roman" panose="02020603050405020304" pitchFamily="18" charset="0"/>
                <a:cs typeface="Times New Roman" panose="02020603050405020304" pitchFamily="18" charset="0"/>
              </a:rPr>
              <a:t>Combining models reduces individual model weaknesses, leading to more reliable predictions across varied datasets.</a:t>
            </a:r>
          </a:p>
          <a:p>
            <a:pPr algn="just">
              <a:lnSpc>
                <a:spcPct val="150000"/>
              </a:lnSpc>
              <a:buClr>
                <a:srgbClr val="0D0D0D"/>
              </a:buClr>
              <a:buSzPct val="100000"/>
              <a:buFont typeface="Wingdings" panose="05000000000000000000" charset="0"/>
              <a:buChar char="Ø"/>
            </a:pPr>
            <a:r>
              <a:rPr lang="en-US" sz="2800" dirty="0">
                <a:solidFill>
                  <a:srgbClr val="000000"/>
                </a:solidFill>
                <a:latin typeface="Times New Roman" panose="02020603050405020304" pitchFamily="18" charset="0"/>
                <a:cs typeface="Times New Roman" panose="02020603050405020304" pitchFamily="18" charset="0"/>
              </a:rPr>
              <a:t>The Flask-based front end provides a seamless user experience with easy-to-use testing and visualization capabilities.</a:t>
            </a:r>
          </a:p>
          <a:p>
            <a:pPr algn="just">
              <a:lnSpc>
                <a:spcPct val="150000"/>
              </a:lnSpc>
              <a:buClr>
                <a:srgbClr val="0D0D0D"/>
              </a:buClr>
              <a:buSzPct val="100000"/>
              <a:buFont typeface="Wingdings" panose="05000000000000000000" charset="0"/>
              <a:buChar char="Ø"/>
            </a:pPr>
            <a:r>
              <a:rPr lang="en-US" sz="2800" dirty="0">
                <a:solidFill>
                  <a:srgbClr val="000000"/>
                </a:solidFill>
                <a:latin typeface="Times New Roman" panose="02020603050405020304" pitchFamily="18" charset="0"/>
                <a:cs typeface="Times New Roman" panose="02020603050405020304" pitchFamily="18" charset="0"/>
              </a:rPr>
              <a:t>User authentication ensures that only authorized users can access the model, adding an extra layer of security.</a:t>
            </a:r>
          </a:p>
        </p:txBody>
      </p:sp>
    </p:spTree>
    <p:extLst>
      <p:ext uri="{BB962C8B-B14F-4D97-AF65-F5344CB8AC3E}">
        <p14:creationId xmlns:p14="http://schemas.microsoft.com/office/powerpoint/2010/main" val="26817940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6000" b="1" dirty="0">
                <a:solidFill>
                  <a:srgbClr val="000000"/>
                </a:solidFill>
                <a:latin typeface="Times New Roman" panose="02020603050405020304" pitchFamily="18" charset="0"/>
                <a:cs typeface="Times New Roman" panose="02020603050405020304" pitchFamily="18" charset="0"/>
                <a:sym typeface="+mn-ea"/>
              </a:rPr>
              <a:t>SOFTWARE AND HARDWARE REQUIREMENTS</a:t>
            </a:r>
            <a:endParaRPr lang="en-US" sz="6000" b="1" dirty="0">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sz="quarter" idx="1"/>
          </p:nvPr>
        </p:nvSpPr>
        <p:spPr>
          <a:xfrm>
            <a:off x="214561" y="3333122"/>
            <a:ext cx="7907663" cy="5695956"/>
          </a:xfrm>
        </p:spPr>
        <p:txBody>
          <a:bodyPr>
            <a:noAutofit/>
          </a:bodyPr>
          <a:lstStyle/>
          <a:p>
            <a:pPr>
              <a:lnSpc>
                <a:spcPct val="100000"/>
              </a:lnSpc>
              <a:buNone/>
            </a:pPr>
            <a:r>
              <a:rPr lang="en-US" sz="3500" b="1" dirty="0">
                <a:solidFill>
                  <a:srgbClr val="000000"/>
                </a:solidFill>
                <a:latin typeface="Times New Roman" panose="02020603050405020304" pitchFamily="18" charset="0"/>
                <a:cs typeface="Times New Roman" panose="02020603050405020304" pitchFamily="18" charset="0"/>
                <a:sym typeface="+mn-ea"/>
              </a:rPr>
              <a:t> </a:t>
            </a:r>
            <a:r>
              <a:rPr lang="en-US" sz="3500" b="1" dirty="0">
                <a:solidFill>
                  <a:srgbClr val="000000"/>
                </a:solidFill>
                <a:latin typeface="Times New Roman" panose="02020603050405020304" pitchFamily="18" charset="0"/>
                <a:cs typeface="Times New Roman" panose="02020603050405020304" pitchFamily="18" charset="0"/>
                <a:sym typeface="+mn-ea"/>
              </a:rPr>
              <a:t>HARDWARE REQUIREMENTS</a:t>
            </a:r>
            <a:endParaRPr lang="en-US" sz="3500" b="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100"/>
              </a:spcBef>
              <a:spcAft>
                <a:spcPts val="0"/>
              </a:spcAft>
              <a:buNone/>
            </a:pPr>
            <a:r>
              <a:rPr lang="en-US" sz="3500" dirty="0">
                <a:solidFill>
                  <a:srgbClr val="000000"/>
                </a:solidFill>
                <a:latin typeface="Times New Roman" panose="02020603050405020304" pitchFamily="18" charset="0"/>
                <a:cs typeface="Times New Roman" panose="02020603050405020304" pitchFamily="18" charset="0"/>
                <a:sym typeface="+mn-ea"/>
              </a:rPr>
              <a:t>1. Operating System: Windows only</a:t>
            </a:r>
            <a:endParaRPr lang="en-US" sz="3500"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100"/>
              </a:spcBef>
              <a:spcAft>
                <a:spcPts val="0"/>
              </a:spcAft>
              <a:buNone/>
            </a:pPr>
            <a:r>
              <a:rPr lang="en-US" sz="3500" dirty="0">
                <a:solidFill>
                  <a:srgbClr val="000000"/>
                </a:solidFill>
                <a:latin typeface="Times New Roman" panose="02020603050405020304" pitchFamily="18" charset="0"/>
                <a:cs typeface="Times New Roman" panose="02020603050405020304" pitchFamily="18" charset="0"/>
                <a:sym typeface="+mn-ea"/>
              </a:rPr>
              <a:t>2. Processor             :  i5 and above</a:t>
            </a:r>
            <a:endParaRPr lang="en-US" sz="3500"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100"/>
              </a:spcBef>
              <a:spcAft>
                <a:spcPts val="0"/>
              </a:spcAft>
              <a:buNone/>
            </a:pPr>
            <a:r>
              <a:rPr lang="en-US" sz="3500" dirty="0">
                <a:solidFill>
                  <a:srgbClr val="000000"/>
                </a:solidFill>
                <a:latin typeface="Times New Roman" panose="02020603050405020304" pitchFamily="18" charset="0"/>
                <a:cs typeface="Times New Roman" panose="02020603050405020304" pitchFamily="18" charset="0"/>
                <a:sym typeface="+mn-ea"/>
              </a:rPr>
              <a:t>3. RAM                   :  8GB and above</a:t>
            </a:r>
            <a:endParaRPr lang="en-US" sz="3500"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100"/>
              </a:spcBef>
              <a:spcAft>
                <a:spcPts val="0"/>
              </a:spcAft>
              <a:buNone/>
            </a:pPr>
            <a:r>
              <a:rPr lang="en-US" sz="3500" dirty="0">
                <a:solidFill>
                  <a:srgbClr val="000000"/>
                </a:solidFill>
                <a:latin typeface="Times New Roman" panose="02020603050405020304" pitchFamily="18" charset="0"/>
                <a:cs typeface="Times New Roman" panose="02020603050405020304" pitchFamily="18" charset="0"/>
                <a:sym typeface="+mn-ea"/>
              </a:rPr>
              <a:t>4. Hard Disk            :  25GB and above </a:t>
            </a:r>
            <a:br>
              <a:rPr lang="en-US" sz="3500" dirty="0">
                <a:solidFill>
                  <a:srgbClr val="000000"/>
                </a:solidFill>
                <a:latin typeface="Times New Roman" panose="02020603050405020304" pitchFamily="18" charset="0"/>
                <a:cs typeface="Times New Roman" panose="02020603050405020304" pitchFamily="18" charset="0"/>
                <a:sym typeface="+mn-ea"/>
              </a:rPr>
            </a:br>
            <a:endParaRPr lang="en-US" sz="3500" dirty="0">
              <a:solidFill>
                <a:srgbClr val="000000"/>
              </a:solidFill>
              <a:latin typeface="Times New Roman" panose="02020603050405020304" pitchFamily="18" charset="0"/>
              <a:cs typeface="Times New Roman" panose="02020603050405020304" pitchFamily="18" charset="0"/>
            </a:endParaRPr>
          </a:p>
          <a:p>
            <a:pPr marL="0" indent="0">
              <a:lnSpc>
                <a:spcPct val="120000"/>
              </a:lnSpc>
              <a:buNone/>
            </a:pPr>
            <a:r>
              <a:rPr lang="en-US" sz="3500" dirty="0">
                <a:solidFill>
                  <a:srgbClr val="000000"/>
                </a:solidFill>
                <a:latin typeface="Times New Roman" panose="02020603050405020304" pitchFamily="18" charset="0"/>
                <a:cs typeface="Times New Roman" panose="02020603050405020304" pitchFamily="18" charset="0"/>
                <a:sym typeface="+mn-ea"/>
              </a:rPr>
              <a:t>  </a:t>
            </a:r>
            <a:endParaRPr lang="en-US" sz="3500" dirty="0">
              <a:latin typeface="Times New Roman" panose="02020603050405020304" pitchFamily="18" charset="0"/>
              <a:cs typeface="Times New Roman" panose="02020603050405020304" pitchFamily="18" charset="0"/>
            </a:endParaRPr>
          </a:p>
          <a:p>
            <a:pPr marL="0" indent="0">
              <a:lnSpc>
                <a:spcPct val="100000"/>
              </a:lnSpc>
              <a:buNone/>
            </a:pPr>
            <a:endParaRPr lang="en-US" sz="3500" dirty="0">
              <a:latin typeface="Times New Roman" panose="02020603050405020304" pitchFamily="18" charset="0"/>
              <a:cs typeface="Times New Roman" panose="02020603050405020304" pitchFamily="18" charset="0"/>
            </a:endParaRPr>
          </a:p>
          <a:p>
            <a:pPr marL="0" indent="0">
              <a:lnSpc>
                <a:spcPct val="120000"/>
              </a:lnSpc>
              <a:buNone/>
            </a:pPr>
            <a:endParaRPr lang="en-IN" sz="3500" dirty="0">
              <a:latin typeface="Times New Roman" panose="02020603050405020304" pitchFamily="18" charset="0"/>
              <a:cs typeface="Times New Roman" panose="02020603050405020304" pitchFamily="18" charset="0"/>
            </a:endParaRPr>
          </a:p>
          <a:p>
            <a:pPr marL="0" indent="0">
              <a:lnSpc>
                <a:spcPct val="120000"/>
              </a:lnSpc>
              <a:buNone/>
            </a:pPr>
            <a:endParaRPr lang="en-IN" sz="3500" dirty="0">
              <a:latin typeface="Times New Roman" panose="02020603050405020304" pitchFamily="18" charset="0"/>
              <a:cs typeface="Times New Roman" panose="02020603050405020304" pitchFamily="18" charset="0"/>
            </a:endParaRPr>
          </a:p>
          <a:p>
            <a:pPr marL="0" indent="0">
              <a:lnSpc>
                <a:spcPct val="120000"/>
              </a:lnSpc>
              <a:buNone/>
            </a:pPr>
            <a:r>
              <a:rPr lang="en-US" sz="3500" dirty="0">
                <a:solidFill>
                  <a:srgbClr val="000000"/>
                </a:solidFill>
                <a:latin typeface="Times New Roman" panose="02020603050405020304" pitchFamily="18" charset="0"/>
                <a:cs typeface="Times New Roman" panose="02020603050405020304" pitchFamily="18" charset="0"/>
                <a:sym typeface="+mn-ea"/>
              </a:rPr>
              <a:t>  </a:t>
            </a:r>
            <a:endParaRPr lang="en-US" sz="3500" dirty="0">
              <a:latin typeface="Times New Roman" panose="02020603050405020304" pitchFamily="18" charset="0"/>
              <a:cs typeface="Times New Roman" panose="02020603050405020304" pitchFamily="18" charset="0"/>
            </a:endParaRPr>
          </a:p>
          <a:p>
            <a:pPr marL="0" indent="0">
              <a:buNone/>
            </a:pPr>
            <a:endParaRPr lang="en-US" sz="3500" dirty="0">
              <a:latin typeface="Times New Roman" panose="02020603050405020304" pitchFamily="18" charset="0"/>
              <a:cs typeface="Times New Roman" panose="02020603050405020304" pitchFamily="18" charset="0"/>
            </a:endParaRPr>
          </a:p>
          <a:p>
            <a:pPr>
              <a:buNone/>
            </a:pPr>
            <a:endParaRPr lang="en-IN" sz="3500" dirty="0">
              <a:latin typeface="Times New Roman" panose="02020603050405020304" pitchFamily="18" charset="0"/>
              <a:cs typeface="Times New Roman" panose="02020603050405020304" pitchFamily="18" charset="0"/>
            </a:endParaRPr>
          </a:p>
          <a:p>
            <a:pPr>
              <a:buNone/>
            </a:pPr>
            <a:endParaRPr lang="en-IN" sz="3500" dirty="0">
              <a:latin typeface="Times New Roman" panose="02020603050405020304" pitchFamily="18" charset="0"/>
              <a:cs typeface="Times New Roman" panose="02020603050405020304" pitchFamily="18" charset="0"/>
            </a:endParaRPr>
          </a:p>
          <a:p>
            <a:pPr>
              <a:buNone/>
            </a:pPr>
            <a:endParaRPr lang="en-US" sz="3500" dirty="0">
              <a:latin typeface="Times New Roman" panose="02020603050405020304" pitchFamily="18" charset="0"/>
              <a:cs typeface="Times New Roman" panose="02020603050405020304" pitchFamily="18" charset="0"/>
            </a:endParaRPr>
          </a:p>
          <a:p>
            <a:endParaRPr lang="en-US" sz="3500" dirty="0">
              <a:latin typeface="Times New Roman" panose="02020603050405020304" pitchFamily="18" charset="0"/>
              <a:cs typeface="Times New Roman" panose="02020603050405020304" pitchFamily="18" charset="0"/>
            </a:endParaRPr>
          </a:p>
          <a:p>
            <a:endParaRPr lang="en-US" sz="3500" dirty="0">
              <a:latin typeface="Times New Roman" panose="02020603050405020304" pitchFamily="18" charset="0"/>
              <a:cs typeface="Times New Roman" panose="02020603050405020304" pitchFamily="18" charset="0"/>
            </a:endParaRPr>
          </a:p>
          <a:p>
            <a:endParaRPr lang="en-US" sz="3500" dirty="0">
              <a:latin typeface="Times New Roman" panose="02020603050405020304" pitchFamily="18" charset="0"/>
              <a:cs typeface="Times New Roman" panose="02020603050405020304" pitchFamily="18" charset="0"/>
            </a:endParaRPr>
          </a:p>
          <a:p>
            <a:endParaRPr lang="en-US" sz="3500" dirty="0">
              <a:latin typeface="Times New Roman" panose="02020603050405020304" pitchFamily="18" charset="0"/>
              <a:cs typeface="Times New Roman" panose="02020603050405020304" pitchFamily="18" charset="0"/>
            </a:endParaRPr>
          </a:p>
          <a:p>
            <a:endParaRPr lang="en-US" sz="3500" dirty="0">
              <a:latin typeface="Times New Roman" panose="02020603050405020304" pitchFamily="18" charset="0"/>
              <a:cs typeface="Times New Roman" panose="02020603050405020304" pitchFamily="18" charset="0"/>
            </a:endParaRPr>
          </a:p>
          <a:p>
            <a:endParaRPr lang="en-US" sz="3500" dirty="0">
              <a:latin typeface="Times New Roman" panose="02020603050405020304" pitchFamily="18" charset="0"/>
              <a:cs typeface="Times New Roman" panose="02020603050405020304" pitchFamily="18" charset="0"/>
            </a:endParaRPr>
          </a:p>
          <a:p>
            <a:endParaRPr lang="en-US" sz="3500" dirty="0">
              <a:latin typeface="Times New Roman" panose="02020603050405020304" pitchFamily="18" charset="0"/>
              <a:cs typeface="Times New Roman" panose="02020603050405020304" pitchFamily="18" charset="0"/>
            </a:endParaRPr>
          </a:p>
          <a:p>
            <a:endParaRPr lang="en-US" sz="3500" dirty="0">
              <a:latin typeface="Times New Roman" panose="02020603050405020304" pitchFamily="18" charset="0"/>
              <a:cs typeface="Times New Roman" panose="02020603050405020304" pitchFamily="18" charset="0"/>
            </a:endParaRPr>
          </a:p>
          <a:p>
            <a:endParaRPr lang="en-US" sz="13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sz="quarter" idx="2"/>
          </p:nvPr>
        </p:nvSpPr>
        <p:spPr>
          <a:xfrm>
            <a:off x="8427244" y="3305499"/>
            <a:ext cx="9551044" cy="5751201"/>
          </a:xfrm>
        </p:spPr>
        <p:txBody>
          <a:bodyPr>
            <a:noAutofit/>
          </a:bodyPr>
          <a:lstStyle/>
          <a:p>
            <a:pPr marL="36195" indent="0">
              <a:lnSpc>
                <a:spcPct val="100000"/>
              </a:lnSpc>
              <a:spcBef>
                <a:spcPts val="100"/>
              </a:spcBef>
              <a:spcAft>
                <a:spcPts val="0"/>
              </a:spcAft>
              <a:buNone/>
            </a:pPr>
            <a:r>
              <a:rPr lang="en-US" sz="3500" b="1" dirty="0">
                <a:solidFill>
                  <a:srgbClr val="000000"/>
                </a:solidFill>
                <a:latin typeface="Times New Roman" panose="02020603050405020304" pitchFamily="18" charset="0"/>
                <a:cs typeface="Times New Roman" panose="02020603050405020304" pitchFamily="18" charset="0"/>
                <a:sym typeface="+mn-ea"/>
              </a:rPr>
              <a:t>SOFTWARE  REQUIREMENTS</a:t>
            </a:r>
          </a:p>
          <a:p>
            <a:pPr marL="36195" indent="0">
              <a:lnSpc>
                <a:spcPct val="100000"/>
              </a:lnSpc>
              <a:spcBef>
                <a:spcPts val="100"/>
              </a:spcBef>
              <a:spcAft>
                <a:spcPts val="0"/>
              </a:spcAft>
              <a:buNone/>
            </a:pPr>
            <a:r>
              <a:rPr lang="en-US" sz="3500" dirty="0">
                <a:solidFill>
                  <a:srgbClr val="000000"/>
                </a:solidFill>
                <a:latin typeface="Times New Roman" panose="02020603050405020304" pitchFamily="18" charset="0"/>
                <a:cs typeface="Times New Roman" panose="02020603050405020304" pitchFamily="18" charset="0"/>
                <a:sym typeface="+mn-ea"/>
              </a:rPr>
              <a:t>1.Application                        :  Anaconda</a:t>
            </a:r>
            <a:endParaRPr lang="en-US" sz="3500" dirty="0">
              <a:solidFill>
                <a:srgbClr val="000000"/>
              </a:solidFill>
              <a:latin typeface="Times New Roman" panose="02020603050405020304" pitchFamily="18" charset="0"/>
              <a:cs typeface="Times New Roman" panose="02020603050405020304" pitchFamily="18" charset="0"/>
            </a:endParaRPr>
          </a:p>
          <a:p>
            <a:pPr marL="0" indent="0">
              <a:lnSpc>
                <a:spcPct val="100000"/>
              </a:lnSpc>
              <a:spcBef>
                <a:spcPts val="100"/>
              </a:spcBef>
              <a:spcAft>
                <a:spcPts val="0"/>
              </a:spcAft>
              <a:buNone/>
            </a:pPr>
            <a:r>
              <a:rPr lang="en-US" sz="3500" dirty="0">
                <a:solidFill>
                  <a:srgbClr val="000000"/>
                </a:solidFill>
                <a:latin typeface="Times New Roman" panose="02020603050405020304" pitchFamily="18" charset="0"/>
                <a:cs typeface="Times New Roman" panose="02020603050405020304" pitchFamily="18" charset="0"/>
                <a:sym typeface="+mn-ea"/>
              </a:rPr>
              <a:t>2. Primary Language             : Python</a:t>
            </a:r>
            <a:endParaRPr lang="en-US" sz="3500" dirty="0">
              <a:solidFill>
                <a:srgbClr val="000000"/>
              </a:solidFill>
              <a:latin typeface="Times New Roman" panose="02020603050405020304" pitchFamily="18" charset="0"/>
              <a:cs typeface="Times New Roman" panose="02020603050405020304" pitchFamily="18" charset="0"/>
            </a:endParaRPr>
          </a:p>
          <a:p>
            <a:pPr marL="0" indent="0">
              <a:lnSpc>
                <a:spcPct val="100000"/>
              </a:lnSpc>
              <a:spcBef>
                <a:spcPts val="100"/>
              </a:spcBef>
              <a:spcAft>
                <a:spcPts val="0"/>
              </a:spcAft>
              <a:buNone/>
            </a:pPr>
            <a:r>
              <a:rPr lang="en-US" sz="3500" dirty="0">
                <a:solidFill>
                  <a:srgbClr val="000000"/>
                </a:solidFill>
                <a:latin typeface="Times New Roman" panose="02020603050405020304" pitchFamily="18" charset="0"/>
                <a:cs typeface="Times New Roman" panose="02020603050405020304" pitchFamily="18" charset="0"/>
                <a:sym typeface="+mn-ea"/>
              </a:rPr>
              <a:t>3. Frontend Framework         : Flask</a:t>
            </a:r>
            <a:endParaRPr lang="en-US" sz="3500" dirty="0">
              <a:solidFill>
                <a:srgbClr val="000000"/>
              </a:solidFill>
              <a:latin typeface="Times New Roman" panose="02020603050405020304" pitchFamily="18" charset="0"/>
              <a:cs typeface="Times New Roman" panose="02020603050405020304" pitchFamily="18" charset="0"/>
            </a:endParaRPr>
          </a:p>
          <a:p>
            <a:pPr marL="0" indent="0">
              <a:lnSpc>
                <a:spcPct val="100000"/>
              </a:lnSpc>
              <a:spcBef>
                <a:spcPts val="100"/>
              </a:spcBef>
              <a:spcAft>
                <a:spcPts val="0"/>
              </a:spcAft>
              <a:buNone/>
            </a:pPr>
            <a:r>
              <a:rPr lang="en-US" sz="3500" dirty="0">
                <a:solidFill>
                  <a:srgbClr val="000000"/>
                </a:solidFill>
                <a:latin typeface="Times New Roman" panose="02020603050405020304" pitchFamily="18" charset="0"/>
                <a:cs typeface="Times New Roman" panose="02020603050405020304" pitchFamily="18" charset="0"/>
                <a:sym typeface="+mn-ea"/>
              </a:rPr>
              <a:t>4. Back-end Framework        : </a:t>
            </a:r>
            <a:r>
              <a:rPr lang="en-US" sz="3500" dirty="0" err="1">
                <a:solidFill>
                  <a:srgbClr val="000000"/>
                </a:solidFill>
                <a:latin typeface="Times New Roman" panose="02020603050405020304" pitchFamily="18" charset="0"/>
                <a:cs typeface="Times New Roman" panose="02020603050405020304" pitchFamily="18" charset="0"/>
                <a:sym typeface="+mn-ea"/>
              </a:rPr>
              <a:t>Jupyter</a:t>
            </a:r>
            <a:r>
              <a:rPr lang="en-US" sz="3500" dirty="0">
                <a:solidFill>
                  <a:srgbClr val="000000"/>
                </a:solidFill>
                <a:latin typeface="Times New Roman" panose="02020603050405020304" pitchFamily="18" charset="0"/>
                <a:cs typeface="Times New Roman" panose="02020603050405020304" pitchFamily="18" charset="0"/>
                <a:sym typeface="+mn-ea"/>
              </a:rPr>
              <a:t> Notebook</a:t>
            </a:r>
            <a:endParaRPr lang="en-US" sz="3500" dirty="0">
              <a:solidFill>
                <a:srgbClr val="000000"/>
              </a:solidFill>
              <a:latin typeface="Times New Roman" panose="02020603050405020304" pitchFamily="18" charset="0"/>
              <a:cs typeface="Times New Roman" panose="02020603050405020304" pitchFamily="18" charset="0"/>
            </a:endParaRPr>
          </a:p>
          <a:p>
            <a:pPr marL="0" indent="0">
              <a:lnSpc>
                <a:spcPct val="100000"/>
              </a:lnSpc>
              <a:spcBef>
                <a:spcPts val="100"/>
              </a:spcBef>
              <a:spcAft>
                <a:spcPts val="0"/>
              </a:spcAft>
              <a:buNone/>
            </a:pPr>
            <a:r>
              <a:rPr lang="en-US" sz="3500" dirty="0">
                <a:solidFill>
                  <a:srgbClr val="000000"/>
                </a:solidFill>
                <a:latin typeface="Times New Roman" panose="02020603050405020304" pitchFamily="18" charset="0"/>
                <a:cs typeface="Times New Roman" panose="02020603050405020304" pitchFamily="18" charset="0"/>
                <a:sym typeface="+mn-ea"/>
              </a:rPr>
              <a:t>5. Database                            : Sqlite3</a:t>
            </a:r>
            <a:endParaRPr lang="en-US" sz="3500" dirty="0">
              <a:solidFill>
                <a:srgbClr val="000000"/>
              </a:solidFill>
              <a:latin typeface="Times New Roman" panose="02020603050405020304" pitchFamily="18" charset="0"/>
              <a:cs typeface="Times New Roman" panose="02020603050405020304" pitchFamily="18" charset="0"/>
            </a:endParaRPr>
          </a:p>
          <a:p>
            <a:pPr marL="0" indent="0">
              <a:lnSpc>
                <a:spcPct val="100000"/>
              </a:lnSpc>
              <a:spcBef>
                <a:spcPts val="100"/>
              </a:spcBef>
              <a:spcAft>
                <a:spcPts val="0"/>
              </a:spcAft>
              <a:buNone/>
            </a:pPr>
            <a:r>
              <a:rPr lang="en-US" sz="3500" dirty="0">
                <a:solidFill>
                  <a:srgbClr val="000000"/>
                </a:solidFill>
                <a:latin typeface="Times New Roman" panose="02020603050405020304" pitchFamily="18" charset="0"/>
                <a:cs typeface="Times New Roman" panose="02020603050405020304" pitchFamily="18" charset="0"/>
                <a:sym typeface="+mn-ea"/>
              </a:rPr>
              <a:t>6. Front-End Technologies    : HTML, CSS,                                                    </a:t>
            </a:r>
            <a:endParaRPr lang="en-US" sz="3500" dirty="0">
              <a:solidFill>
                <a:srgbClr val="000000"/>
              </a:solidFill>
            </a:endParaRPr>
          </a:p>
          <a:p>
            <a:pPr marL="36195" indent="0">
              <a:lnSpc>
                <a:spcPct val="100000"/>
              </a:lnSpc>
              <a:spcBef>
                <a:spcPts val="100"/>
              </a:spcBef>
              <a:spcAft>
                <a:spcPts val="0"/>
              </a:spcAft>
              <a:buNone/>
            </a:pPr>
            <a:r>
              <a:rPr lang="en-US" sz="3500" dirty="0">
                <a:solidFill>
                  <a:srgbClr val="000000"/>
                </a:solidFill>
                <a:sym typeface="+mn-ea"/>
              </a:rPr>
              <a:t>                                            </a:t>
            </a:r>
            <a:r>
              <a:rPr lang="en-US" sz="3500" dirty="0">
                <a:solidFill>
                  <a:srgbClr val="000000"/>
                </a:solidFill>
                <a:latin typeface="Times New Roman" panose="02020603050405020304" pitchFamily="18" charset="0"/>
                <a:cs typeface="Times New Roman" panose="02020603050405020304" pitchFamily="18" charset="0"/>
                <a:sym typeface="+mn-ea"/>
              </a:rPr>
              <a:t>JavaScript </a:t>
            </a:r>
          </a:p>
          <a:p>
            <a:pPr marL="36195" indent="0">
              <a:lnSpc>
                <a:spcPct val="100000"/>
              </a:lnSpc>
              <a:spcBef>
                <a:spcPts val="100"/>
              </a:spcBef>
              <a:spcAft>
                <a:spcPts val="0"/>
              </a:spcAft>
              <a:buNone/>
            </a:pPr>
            <a:r>
              <a:rPr lang="en-US" sz="3500" dirty="0">
                <a:solidFill>
                  <a:srgbClr val="000000"/>
                </a:solidFill>
                <a:latin typeface="Times New Roman" panose="02020603050405020304" pitchFamily="18" charset="0"/>
                <a:cs typeface="Times New Roman" panose="02020603050405020304" pitchFamily="18" charset="0"/>
                <a:sym typeface="+mn-ea"/>
              </a:rPr>
              <a:t>                                                 and                    </a:t>
            </a:r>
          </a:p>
          <a:p>
            <a:pPr marL="36195" indent="0">
              <a:lnSpc>
                <a:spcPct val="100000"/>
              </a:lnSpc>
              <a:spcBef>
                <a:spcPts val="100"/>
              </a:spcBef>
              <a:spcAft>
                <a:spcPts val="0"/>
              </a:spcAft>
              <a:buNone/>
            </a:pPr>
            <a:r>
              <a:rPr lang="en-US" sz="3500" dirty="0">
                <a:solidFill>
                  <a:srgbClr val="000000"/>
                </a:solidFill>
                <a:latin typeface="Times New Roman" panose="02020603050405020304" pitchFamily="18" charset="0"/>
                <a:cs typeface="Times New Roman" panose="02020603050405020304" pitchFamily="18" charset="0"/>
                <a:sym typeface="+mn-ea"/>
              </a:rPr>
              <a:t>                                                 Bootstrap4.</a:t>
            </a:r>
            <a:endParaRPr lang="en-US" sz="3500" dirty="0">
              <a:solidFill>
                <a:srgbClr val="000000"/>
              </a:solidFill>
              <a:latin typeface="Times New Roman" panose="02020603050405020304" pitchFamily="18" charset="0"/>
              <a:cs typeface="Times New Roman" panose="02020603050405020304" pitchFamily="18" charset="0"/>
            </a:endParaRPr>
          </a:p>
          <a:p>
            <a:pPr marL="36195" indent="0">
              <a:lnSpc>
                <a:spcPct val="100000"/>
              </a:lnSpc>
              <a:spcBef>
                <a:spcPts val="100"/>
              </a:spcBef>
              <a:spcAft>
                <a:spcPts val="0"/>
              </a:spcAft>
              <a:buNone/>
            </a:pPr>
            <a:r>
              <a:rPr lang="en-US" sz="3500" dirty="0">
                <a:solidFill>
                  <a:srgbClr val="000000"/>
                </a:solidFill>
                <a:latin typeface="Times New Roman" panose="02020603050405020304" pitchFamily="18" charset="0"/>
                <a:cs typeface="Times New Roman" panose="02020603050405020304" pitchFamily="18" charset="0"/>
                <a:sym typeface="+mn-ea"/>
              </a:rPr>
              <a:t>                                            </a:t>
            </a:r>
            <a:endParaRPr lang="en-US" sz="3500" dirty="0"/>
          </a:p>
          <a:p>
            <a:pPr>
              <a:lnSpc>
                <a:spcPct val="100000"/>
              </a:lnSpc>
              <a:spcBef>
                <a:spcPts val="100"/>
              </a:spcBef>
              <a:spcAft>
                <a:spcPts val="0"/>
              </a:spcAft>
            </a:pPr>
            <a:endParaRPr lang="en-US" sz="3500" dirty="0"/>
          </a:p>
          <a:p>
            <a:pPr>
              <a:lnSpc>
                <a:spcPct val="100000"/>
              </a:lnSpc>
              <a:spcBef>
                <a:spcPts val="100"/>
              </a:spcBef>
              <a:spcAft>
                <a:spcPts val="0"/>
              </a:spcAft>
            </a:pPr>
            <a:endParaRPr lang="en-US" sz="3500" dirty="0"/>
          </a:p>
          <a:p>
            <a:endParaRPr lang="en-US" sz="3500" dirty="0"/>
          </a:p>
          <a:p>
            <a:endParaRPr lang="en-US" sz="3500" dirty="0"/>
          </a:p>
          <a:p>
            <a:endParaRPr lang="en-US" sz="3500" dirty="0"/>
          </a:p>
          <a:p>
            <a:endParaRPr lang="en-US" sz="3500" dirty="0"/>
          </a:p>
          <a:p>
            <a:endParaRPr lang="en-US" sz="3500" dirty="0"/>
          </a:p>
          <a:p>
            <a:endParaRPr lang="en-US" sz="3500" dirty="0"/>
          </a:p>
          <a:p>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0" end="0"/>
                                            </p:txEl>
                                          </p:spTgt>
                                        </p:tgtEl>
                                        <p:attrNameLst>
                                          <p:attrName>style.visibility</p:attrName>
                                        </p:attrNameLst>
                                      </p:cBhvr>
                                      <p:to>
                                        <p:strVal val="visible"/>
                                      </p:to>
                                    </p:set>
                                    <p:animEffect transition="in" filter="fade">
                                      <p:cBhvr>
                                        <p:cTn id="32" dur="500"/>
                                        <p:tgtEl>
                                          <p:spTgt spid="5">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
                                            <p:txEl>
                                              <p:pRg st="1" end="1"/>
                                            </p:txEl>
                                          </p:spTgt>
                                        </p:tgtEl>
                                        <p:attrNameLst>
                                          <p:attrName>style.visibility</p:attrName>
                                        </p:attrNameLst>
                                      </p:cBhvr>
                                      <p:to>
                                        <p:strVal val="visible"/>
                                      </p:to>
                                    </p:set>
                                    <p:animEffect transition="in" filter="fade">
                                      <p:cBhvr>
                                        <p:cTn id="37" dur="500"/>
                                        <p:tgtEl>
                                          <p:spTgt spid="5">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
                                            <p:txEl>
                                              <p:pRg st="2" end="2"/>
                                            </p:txEl>
                                          </p:spTgt>
                                        </p:tgtEl>
                                        <p:attrNameLst>
                                          <p:attrName>style.visibility</p:attrName>
                                        </p:attrNameLst>
                                      </p:cBhvr>
                                      <p:to>
                                        <p:strVal val="visible"/>
                                      </p:to>
                                    </p:set>
                                    <p:animEffect transition="in" filter="fade">
                                      <p:cBhvr>
                                        <p:cTn id="42" dur="500"/>
                                        <p:tgtEl>
                                          <p:spTgt spid="5">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5">
                                            <p:txEl>
                                              <p:pRg st="3" end="3"/>
                                            </p:txEl>
                                          </p:spTgt>
                                        </p:tgtEl>
                                        <p:attrNameLst>
                                          <p:attrName>style.visibility</p:attrName>
                                        </p:attrNameLst>
                                      </p:cBhvr>
                                      <p:to>
                                        <p:strVal val="visible"/>
                                      </p:to>
                                    </p:set>
                                    <p:animEffect transition="in" filter="fade">
                                      <p:cBhvr>
                                        <p:cTn id="47" dur="500"/>
                                        <p:tgtEl>
                                          <p:spTgt spid="5">
                                            <p:txEl>
                                              <p:pRg st="3" end="3"/>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5">
                                            <p:txEl>
                                              <p:pRg st="4" end="4"/>
                                            </p:txEl>
                                          </p:spTgt>
                                        </p:tgtEl>
                                        <p:attrNameLst>
                                          <p:attrName>style.visibility</p:attrName>
                                        </p:attrNameLst>
                                      </p:cBhvr>
                                      <p:to>
                                        <p:strVal val="visible"/>
                                      </p:to>
                                    </p:set>
                                    <p:animEffect transition="in" filter="fade">
                                      <p:cBhvr>
                                        <p:cTn id="52" dur="500"/>
                                        <p:tgtEl>
                                          <p:spTgt spid="5">
                                            <p:txEl>
                                              <p:pRg st="4" end="4"/>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5">
                                            <p:txEl>
                                              <p:pRg st="5" end="5"/>
                                            </p:txEl>
                                          </p:spTgt>
                                        </p:tgtEl>
                                        <p:attrNameLst>
                                          <p:attrName>style.visibility</p:attrName>
                                        </p:attrNameLst>
                                      </p:cBhvr>
                                      <p:to>
                                        <p:strVal val="visible"/>
                                      </p:to>
                                    </p:set>
                                    <p:animEffect transition="in" filter="fade">
                                      <p:cBhvr>
                                        <p:cTn id="57" dur="500"/>
                                        <p:tgtEl>
                                          <p:spTgt spid="5">
                                            <p:txEl>
                                              <p:pRg st="5" end="5"/>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5">
                                            <p:txEl>
                                              <p:pRg st="6" end="6"/>
                                            </p:txEl>
                                          </p:spTgt>
                                        </p:tgtEl>
                                        <p:attrNameLst>
                                          <p:attrName>style.visibility</p:attrName>
                                        </p:attrNameLst>
                                      </p:cBhvr>
                                      <p:to>
                                        <p:strVal val="visible"/>
                                      </p:to>
                                    </p:set>
                                    <p:animEffect transition="in" filter="fade">
                                      <p:cBhvr>
                                        <p:cTn id="62" dur="500"/>
                                        <p:tgtEl>
                                          <p:spTgt spid="5">
                                            <p:txEl>
                                              <p:pRg st="6" end="6"/>
                                            </p:txEl>
                                          </p:spTgt>
                                        </p:tgtEl>
                                      </p:cBhvr>
                                    </p:animEffect>
                                  </p:childTnLst>
                                </p:cTn>
                              </p:par>
                              <p:par>
                                <p:cTn id="63" presetID="10" presetClass="entr" presetSubtype="0" fill="hold" nodeType="withEffect">
                                  <p:stCondLst>
                                    <p:cond delay="0"/>
                                  </p:stCondLst>
                                  <p:childTnLst>
                                    <p:set>
                                      <p:cBhvr>
                                        <p:cTn id="64" dur="1" fill="hold">
                                          <p:stCondLst>
                                            <p:cond delay="0"/>
                                          </p:stCondLst>
                                        </p:cTn>
                                        <p:tgtEl>
                                          <p:spTgt spid="5">
                                            <p:txEl>
                                              <p:pRg st="7" end="7"/>
                                            </p:txEl>
                                          </p:spTgt>
                                        </p:tgtEl>
                                        <p:attrNameLst>
                                          <p:attrName>style.visibility</p:attrName>
                                        </p:attrNameLst>
                                      </p:cBhvr>
                                      <p:to>
                                        <p:strVal val="visible"/>
                                      </p:to>
                                    </p:set>
                                    <p:animEffect transition="in" filter="fade">
                                      <p:cBhvr>
                                        <p:cTn id="65" dur="500"/>
                                        <p:tgtEl>
                                          <p:spTgt spid="5">
                                            <p:txEl>
                                              <p:pRg st="7" end="7"/>
                                            </p:txEl>
                                          </p:spTgt>
                                        </p:tgtEl>
                                      </p:cBhvr>
                                    </p:animEffect>
                                  </p:childTnLst>
                                </p:cTn>
                              </p:par>
                              <p:par>
                                <p:cTn id="66" presetID="10" presetClass="entr" presetSubtype="0" fill="hold" nodeType="withEffect">
                                  <p:stCondLst>
                                    <p:cond delay="0"/>
                                  </p:stCondLst>
                                  <p:childTnLst>
                                    <p:set>
                                      <p:cBhvr>
                                        <p:cTn id="67" dur="1" fill="hold">
                                          <p:stCondLst>
                                            <p:cond delay="0"/>
                                          </p:stCondLst>
                                        </p:cTn>
                                        <p:tgtEl>
                                          <p:spTgt spid="5">
                                            <p:txEl>
                                              <p:pRg st="8" end="8"/>
                                            </p:txEl>
                                          </p:spTgt>
                                        </p:tgtEl>
                                        <p:attrNameLst>
                                          <p:attrName>style.visibility</p:attrName>
                                        </p:attrNameLst>
                                      </p:cBhvr>
                                      <p:to>
                                        <p:strVal val="visible"/>
                                      </p:to>
                                    </p:set>
                                    <p:animEffect transition="in" filter="fade">
                                      <p:cBhvr>
                                        <p:cTn id="68" dur="500"/>
                                        <p:tgtEl>
                                          <p:spTgt spid="5">
                                            <p:txEl>
                                              <p:pRg st="8" end="8"/>
                                            </p:txEl>
                                          </p:spTgt>
                                        </p:tgtEl>
                                      </p:cBhvr>
                                    </p:animEffect>
                                  </p:childTnLst>
                                </p:cTn>
                              </p:par>
                              <p:par>
                                <p:cTn id="69" presetID="10" presetClass="entr" presetSubtype="0" fill="hold" nodeType="withEffect">
                                  <p:stCondLst>
                                    <p:cond delay="0"/>
                                  </p:stCondLst>
                                  <p:childTnLst>
                                    <p:set>
                                      <p:cBhvr>
                                        <p:cTn id="70" dur="1" fill="hold">
                                          <p:stCondLst>
                                            <p:cond delay="0"/>
                                          </p:stCondLst>
                                        </p:cTn>
                                        <p:tgtEl>
                                          <p:spTgt spid="5">
                                            <p:txEl>
                                              <p:pRg st="9" end="9"/>
                                            </p:txEl>
                                          </p:spTgt>
                                        </p:tgtEl>
                                        <p:attrNameLst>
                                          <p:attrName>style.visibility</p:attrName>
                                        </p:attrNameLst>
                                      </p:cBhvr>
                                      <p:to>
                                        <p:strVal val="visible"/>
                                      </p:to>
                                    </p:set>
                                    <p:animEffect transition="in" filter="fade">
                                      <p:cBhvr>
                                        <p:cTn id="71" dur="500"/>
                                        <p:tgtEl>
                                          <p:spTgt spid="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Text Box 4"/>
          <p:cNvSpPr txBox="1"/>
          <p:nvPr/>
        </p:nvSpPr>
        <p:spPr>
          <a:xfrm>
            <a:off x="1624965" y="77470"/>
            <a:ext cx="14435455" cy="922020"/>
          </a:xfrm>
          <a:prstGeom prst="rect">
            <a:avLst/>
          </a:prstGeom>
          <a:noFill/>
        </p:spPr>
        <p:txBody>
          <a:bodyPr wrap="square" rtlCol="0">
            <a:spAutoFit/>
          </a:bodyPr>
          <a:lstStyle/>
          <a:p>
            <a:pPr algn="ctr"/>
            <a:r>
              <a:rPr lang="en-US" sz="5400" b="1" dirty="0">
                <a:solidFill>
                  <a:srgbClr val="000000"/>
                </a:solidFill>
                <a:latin typeface="Times New Roman" panose="02020603050405020304" pitchFamily="18" charset="0"/>
                <a:cs typeface="Times New Roman" panose="02020603050405020304" pitchFamily="18" charset="0"/>
              </a:rPr>
              <a:t> </a:t>
            </a:r>
          </a:p>
        </p:txBody>
      </p:sp>
      <p:sp>
        <p:nvSpPr>
          <p:cNvPr id="4" name="Title 3"/>
          <p:cNvSpPr>
            <a:spLocks noGrp="1"/>
          </p:cNvSpPr>
          <p:nvPr>
            <p:ph type="title"/>
          </p:nvPr>
        </p:nvSpPr>
        <p:spPr/>
        <p:txBody>
          <a:bodyPr>
            <a:normAutofit/>
          </a:bodyPr>
          <a:lstStyle/>
          <a:p>
            <a:pPr algn="ctr"/>
            <a:r>
              <a:rPr lang="en-US" sz="5400" b="1" dirty="0">
                <a:solidFill>
                  <a:srgbClr val="000000"/>
                </a:solidFill>
                <a:latin typeface="Times New Roman" panose="02020603050405020304" pitchFamily="18" charset="0"/>
                <a:ea typeface="+mn-ea"/>
                <a:cs typeface="Times New Roman" panose="02020603050405020304" pitchFamily="18" charset="0"/>
              </a:rPr>
              <a:t>SYSTEM ARCHITECTURE</a:t>
            </a:r>
            <a:endParaRPr lang="en-IN" dirty="0"/>
          </a:p>
        </p:txBody>
      </p:sp>
      <p:pic>
        <p:nvPicPr>
          <p:cNvPr id="8" name="Content Placeholder 7"/>
          <p:cNvPicPr>
            <a:picLocks noGrp="1"/>
          </p:cNvPicPr>
          <p:nvPr>
            <p:ph sz="quarter" idx="1"/>
          </p:nvPr>
        </p:nvPicPr>
        <p:blipFill>
          <a:blip r:embed="rId2"/>
          <a:stretch>
            <a:fillRect/>
          </a:stretch>
        </p:blipFill>
        <p:spPr>
          <a:xfrm>
            <a:off x="2302793" y="2592040"/>
            <a:ext cx="12893530" cy="6336703"/>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7200" b="1" dirty="0">
                <a:solidFill>
                  <a:srgbClr val="000000"/>
                </a:solidFill>
                <a:latin typeface="Times New Roman" panose="02020603050405020304" pitchFamily="18" charset="0"/>
                <a:cs typeface="Times New Roman" panose="02020603050405020304" pitchFamily="18" charset="0"/>
              </a:rPr>
              <a:t>CONCLUSION</a:t>
            </a:r>
          </a:p>
        </p:txBody>
      </p:sp>
      <p:sp>
        <p:nvSpPr>
          <p:cNvPr id="3" name="Content Placeholder 2"/>
          <p:cNvSpPr>
            <a:spLocks noGrp="1"/>
          </p:cNvSpPr>
          <p:nvPr>
            <p:ph sz="quarter" idx="1"/>
          </p:nvPr>
        </p:nvSpPr>
        <p:spPr>
          <a:xfrm>
            <a:off x="574600" y="2594935"/>
            <a:ext cx="16681677" cy="9803140"/>
          </a:xfrm>
        </p:spPr>
        <p:txBody>
          <a:bodyPr>
            <a:noAutofit/>
          </a:bodyPr>
          <a:lstStyle/>
          <a:p>
            <a:pPr algn="just">
              <a:lnSpc>
                <a:spcPct val="150000"/>
              </a:lnSpc>
              <a:spcBef>
                <a:spcPts val="100"/>
              </a:spcBef>
              <a:spcAft>
                <a:spcPts val="0"/>
              </a:spcAft>
              <a:buClr>
                <a:srgbClr val="0D0D0D"/>
              </a:buClr>
              <a:buSzPct val="100000"/>
              <a:buFont typeface="Wingdings" panose="05000000000000000000" charset="0"/>
              <a:buChar char="Ø"/>
            </a:pPr>
            <a:r>
              <a:rPr lang="en-US" sz="2400" dirty="0">
                <a:solidFill>
                  <a:srgbClr val="000000"/>
                </a:solidFill>
                <a:latin typeface="Times New Roman" panose="02020603050405020304" pitchFamily="18" charset="0"/>
                <a:cs typeface="Times New Roman" panose="02020603050405020304" pitchFamily="18" charset="0"/>
              </a:rPr>
              <a:t>In conclusion, the proposed intelligent ensemble-based model for software defect prediction significantly enhances the ability to identify faulty modules before the testing phase, leading to a more focused and cost-effective quality assurance process. </a:t>
            </a:r>
          </a:p>
          <a:p>
            <a:pPr algn="just">
              <a:lnSpc>
                <a:spcPct val="150000"/>
              </a:lnSpc>
              <a:spcBef>
                <a:spcPts val="100"/>
              </a:spcBef>
              <a:spcAft>
                <a:spcPts val="0"/>
              </a:spcAft>
              <a:buClr>
                <a:srgbClr val="0D0D0D"/>
              </a:buClr>
              <a:buSzPct val="100000"/>
              <a:buFont typeface="Wingdings" panose="05000000000000000000" charset="0"/>
              <a:buChar char="Ø"/>
            </a:pPr>
            <a:r>
              <a:rPr lang="en-US" sz="2400" dirty="0">
                <a:solidFill>
                  <a:srgbClr val="000000"/>
                </a:solidFill>
                <a:latin typeface="Times New Roman" panose="02020603050405020304" pitchFamily="18" charset="0"/>
                <a:cs typeface="Times New Roman" panose="02020603050405020304" pitchFamily="18" charset="0"/>
              </a:rPr>
              <a:t>By integrating four heterogeneous supervised classifiers—Random Forest, Support Vector Machine (SVM), Naïve Bayes, and Multi-Layer Perceptron (MLP)—the model employs a robust voting ensemble technique to achieve superior prediction accuracy. </a:t>
            </a:r>
          </a:p>
          <a:p>
            <a:pPr algn="just">
              <a:lnSpc>
                <a:spcPct val="150000"/>
              </a:lnSpc>
              <a:spcBef>
                <a:spcPts val="100"/>
              </a:spcBef>
              <a:spcAft>
                <a:spcPts val="0"/>
              </a:spcAft>
              <a:buClr>
                <a:srgbClr val="0D0D0D"/>
              </a:buClr>
              <a:buSzPct val="100000"/>
              <a:buFont typeface="Wingdings" panose="05000000000000000000" charset="0"/>
              <a:buChar char="Ø"/>
            </a:pPr>
            <a:r>
              <a:rPr lang="en-US" sz="2400" dirty="0">
                <a:solidFill>
                  <a:srgbClr val="000000"/>
                </a:solidFill>
                <a:latin typeface="Times New Roman" panose="02020603050405020304" pitchFamily="18" charset="0"/>
                <a:cs typeface="Times New Roman" panose="02020603050405020304" pitchFamily="18" charset="0"/>
              </a:rPr>
              <a:t>Additionally, the inclusion of a Stacking Classifier combining Decision Trees, Random Forest, and LightGBM further refines the model's performance. </a:t>
            </a:r>
          </a:p>
          <a:p>
            <a:pPr algn="just">
              <a:lnSpc>
                <a:spcPct val="150000"/>
              </a:lnSpc>
              <a:spcBef>
                <a:spcPts val="100"/>
              </a:spcBef>
              <a:spcAft>
                <a:spcPts val="0"/>
              </a:spcAft>
              <a:buClr>
                <a:srgbClr val="0D0D0D"/>
              </a:buClr>
              <a:buSzPct val="100000"/>
              <a:buFont typeface="Wingdings" panose="05000000000000000000" charset="0"/>
              <a:buChar char="Ø"/>
            </a:pPr>
            <a:r>
              <a:rPr lang="en-US" sz="2400" dirty="0">
                <a:solidFill>
                  <a:srgbClr val="000000"/>
                </a:solidFill>
                <a:latin typeface="Times New Roman" panose="02020603050405020304" pitchFamily="18" charset="0"/>
                <a:cs typeface="Times New Roman" panose="02020603050405020304" pitchFamily="18" charset="0"/>
              </a:rPr>
              <a:t>Evaluated using benchmark datasets from the NASA defect repository (CM1, JM1, MC2, MW1, PC1, PC3, and PC4), the model demonstrated remarkable accuracy, with the Stacking Classifier achieving up to 93.5% accuracy for PC4. </a:t>
            </a:r>
          </a:p>
          <a:p>
            <a:pPr algn="just">
              <a:lnSpc>
                <a:spcPct val="150000"/>
              </a:lnSpc>
              <a:spcBef>
                <a:spcPts val="100"/>
              </a:spcBef>
              <a:spcAft>
                <a:spcPts val="0"/>
              </a:spcAft>
              <a:buClr>
                <a:srgbClr val="0D0D0D"/>
              </a:buClr>
              <a:buSzPct val="100000"/>
              <a:buFont typeface="Wingdings" panose="05000000000000000000" charset="0"/>
              <a:buChar char="Ø"/>
            </a:pPr>
            <a:r>
              <a:rPr lang="en-US" sz="2400" dirty="0">
                <a:solidFill>
                  <a:srgbClr val="000000"/>
                </a:solidFill>
                <a:latin typeface="Times New Roman" panose="02020603050405020304" pitchFamily="18" charset="0"/>
                <a:cs typeface="Times New Roman" panose="02020603050405020304" pitchFamily="18" charset="0"/>
              </a:rPr>
              <a:t>This performance surpasses many state-of-the-art techniques, highlighting the effectiveness and efficiency of the proposed VESDP model. The comprehensive comparative analysis confirms that the proposed system is a valuable advancement in defect prediction, offering enhanced reliability and precision in software development.</a:t>
            </a:r>
            <a:endParaRPr lang="en-US" sz="2400" b="1"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Content Placeholder 2"/>
          <p:cNvSpPr>
            <a:spLocks noGrp="1"/>
          </p:cNvSpPr>
          <p:nvPr>
            <p:ph sz="quarter" idx="1"/>
          </p:nvPr>
        </p:nvSpPr>
        <p:spPr/>
        <p:txBody>
          <a:bodyPr>
            <a:noAutofit/>
          </a:bodyPr>
          <a:lstStyle/>
          <a:p>
            <a:pPr algn="just">
              <a:lnSpc>
                <a:spcPct val="150000"/>
              </a:lnSpc>
              <a:buFont typeface="Wingdings" panose="05000000000000000000" pitchFamily="2" charset="2"/>
              <a:buChar char="Ø"/>
            </a:pPr>
            <a:r>
              <a:rPr lang="en-US" sz="3600" dirty="0">
                <a:solidFill>
                  <a:srgbClr val="000000"/>
                </a:solidFill>
                <a:latin typeface="Times New Roman" pitchFamily="18" charset="0"/>
                <a:cs typeface="Times New Roman" pitchFamily="18" charset="0"/>
              </a:rPr>
              <a:t>For future work, advanced feature selection techniques such as genetic algorithms or bat search algorithms could be explored to enhance the robustness of the proposed model. </a:t>
            </a:r>
          </a:p>
          <a:p>
            <a:pPr algn="just">
              <a:lnSpc>
                <a:spcPct val="150000"/>
              </a:lnSpc>
              <a:buFont typeface="Wingdings" panose="05000000000000000000" pitchFamily="2" charset="2"/>
              <a:buChar char="Ø"/>
            </a:pPr>
            <a:r>
              <a:rPr lang="en-US" sz="3600" dirty="0">
                <a:solidFill>
                  <a:srgbClr val="000000"/>
                </a:solidFill>
                <a:latin typeface="Times New Roman" pitchFamily="18" charset="0"/>
                <a:cs typeface="Times New Roman" pitchFamily="18" charset="0"/>
              </a:rPr>
              <a:t>Additionally, incorporating nested ensemble techniques using methods like bagging and boosting may further improve the reliability of predictions. </a:t>
            </a:r>
          </a:p>
          <a:p>
            <a:pPr algn="just">
              <a:lnSpc>
                <a:spcPct val="150000"/>
              </a:lnSpc>
              <a:buFont typeface="Wingdings" panose="05000000000000000000" pitchFamily="2" charset="2"/>
              <a:buChar char="Ø"/>
            </a:pPr>
            <a:r>
              <a:rPr lang="en-US" sz="3600" dirty="0">
                <a:solidFill>
                  <a:srgbClr val="000000"/>
                </a:solidFill>
                <a:latin typeface="Times New Roman" pitchFamily="18" charset="0"/>
                <a:cs typeface="Times New Roman" pitchFamily="18" charset="0"/>
              </a:rPr>
              <a:t>These advancements would contribute to the ongoing evolution of software defect prediction models, enhancing their effectiveness and applicability in real-world software development environments.</a:t>
            </a:r>
          </a:p>
        </p:txBody>
      </p:sp>
      <p:sp>
        <p:nvSpPr>
          <p:cNvPr id="4" name="Title 1"/>
          <p:cNvSpPr>
            <a:spLocks noGrp="1"/>
          </p:cNvSpPr>
          <p:nvPr>
            <p:ph type="title"/>
          </p:nvPr>
        </p:nvSpPr>
        <p:spPr/>
        <p:txBody>
          <a:bodyPr>
            <a:normAutofit/>
          </a:bodyPr>
          <a:lstStyle/>
          <a:p>
            <a:pPr algn="ctr"/>
            <a:r>
              <a:rPr lang="en-US" sz="7200" b="1" dirty="0">
                <a:solidFill>
                  <a:srgbClr val="000000"/>
                </a:solidFill>
                <a:latin typeface="Times New Roman" panose="02020603050405020304" pitchFamily="18" charset="0"/>
                <a:cs typeface="Times New Roman" panose="02020603050405020304" pitchFamily="18" charset="0"/>
              </a:rPr>
              <a:t>FUTURE SCOPE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Content Placeholder 2"/>
          <p:cNvSpPr>
            <a:spLocks noGrp="1"/>
          </p:cNvSpPr>
          <p:nvPr>
            <p:ph sz="quarter" idx="1"/>
          </p:nvPr>
        </p:nvSpPr>
        <p:spPr/>
        <p:txBody>
          <a:bodyPr>
            <a:noAutofit/>
          </a:bodyPr>
          <a:lstStyle/>
          <a:p>
            <a:pPr marL="0" indent="0" algn="just">
              <a:lnSpc>
                <a:spcPct val="150000"/>
              </a:lnSpc>
              <a:buNone/>
            </a:pPr>
            <a:r>
              <a:rPr lang="en-US" sz="2400" dirty="0">
                <a:solidFill>
                  <a:srgbClr val="000000"/>
                </a:solidFill>
                <a:latin typeface="Times New Roman" panose="02020603050405020304" pitchFamily="18" charset="0"/>
                <a:cs typeface="Times New Roman" panose="02020603050405020304" pitchFamily="18" charset="0"/>
              </a:rPr>
              <a:t>[1] J. Liu, J. Ai, M. Lu, J. Wang, and H. Shi, ‘‘Semantic feature learning for software defect prediction from source code and external knowledge,’’ J. Syst. </a:t>
            </a:r>
            <a:r>
              <a:rPr lang="en-US" sz="2400" dirty="0" err="1">
                <a:solidFill>
                  <a:srgbClr val="000000"/>
                </a:solidFill>
                <a:latin typeface="Times New Roman" panose="02020603050405020304" pitchFamily="18" charset="0"/>
                <a:cs typeface="Times New Roman" panose="02020603050405020304" pitchFamily="18" charset="0"/>
              </a:rPr>
              <a:t>Softw</a:t>
            </a:r>
            <a:r>
              <a:rPr lang="en-US" sz="2400" dirty="0">
                <a:solidFill>
                  <a:srgbClr val="000000"/>
                </a:solidFill>
                <a:latin typeface="Times New Roman" panose="02020603050405020304" pitchFamily="18" charset="0"/>
                <a:cs typeface="Times New Roman" panose="02020603050405020304" pitchFamily="18" charset="0"/>
              </a:rPr>
              <a:t>., vol. 204, Oct. 2023, Art. no. 111753, </a:t>
            </a:r>
            <a:r>
              <a:rPr lang="en-US" sz="2400" dirty="0" err="1">
                <a:solidFill>
                  <a:srgbClr val="000000"/>
                </a:solidFill>
                <a:latin typeface="Times New Roman" panose="02020603050405020304" pitchFamily="18" charset="0"/>
                <a:cs typeface="Times New Roman" panose="02020603050405020304" pitchFamily="18" charset="0"/>
              </a:rPr>
              <a:t>doi</a:t>
            </a:r>
            <a:r>
              <a:rPr lang="en-US" sz="2400" dirty="0">
                <a:solidFill>
                  <a:srgbClr val="000000"/>
                </a:solidFill>
                <a:latin typeface="Times New Roman" panose="02020603050405020304" pitchFamily="18" charset="0"/>
                <a:cs typeface="Times New Roman" panose="02020603050405020304" pitchFamily="18" charset="0"/>
              </a:rPr>
              <a:t>: 10.1016/j.jss.2023.111753.</a:t>
            </a:r>
          </a:p>
          <a:p>
            <a:pPr marL="0" indent="0" algn="just">
              <a:lnSpc>
                <a:spcPct val="150000"/>
              </a:lnSpc>
              <a:buNone/>
            </a:pPr>
            <a:r>
              <a:rPr lang="en-US" sz="2400" dirty="0">
                <a:solidFill>
                  <a:srgbClr val="000000"/>
                </a:solidFill>
                <a:latin typeface="Times New Roman" panose="02020603050405020304" pitchFamily="18" charset="0"/>
                <a:cs typeface="Times New Roman" panose="02020603050405020304" pitchFamily="18" charset="0"/>
              </a:rPr>
              <a:t>[2] Z. M. Zain, S. </a:t>
            </a:r>
            <a:r>
              <a:rPr lang="en-US" sz="2400" dirty="0" err="1">
                <a:solidFill>
                  <a:srgbClr val="000000"/>
                </a:solidFill>
                <a:latin typeface="Times New Roman" panose="02020603050405020304" pitchFamily="18" charset="0"/>
                <a:cs typeface="Times New Roman" panose="02020603050405020304" pitchFamily="18" charset="0"/>
              </a:rPr>
              <a:t>Sakri</a:t>
            </a:r>
            <a:r>
              <a:rPr lang="en-US" sz="2400" dirty="0">
                <a:solidFill>
                  <a:srgbClr val="000000"/>
                </a:solidFill>
                <a:latin typeface="Times New Roman" panose="02020603050405020304" pitchFamily="18" charset="0"/>
                <a:cs typeface="Times New Roman" panose="02020603050405020304" pitchFamily="18" charset="0"/>
              </a:rPr>
              <a:t>, and N. H. A. Ismail, ‘‘Application of deep learning in software defect prediction: Systematic literature review and </a:t>
            </a:r>
            <a:r>
              <a:rPr lang="en-US" sz="2400" dirty="0" err="1">
                <a:solidFill>
                  <a:srgbClr val="000000"/>
                </a:solidFill>
                <a:latin typeface="Times New Roman" panose="02020603050405020304" pitchFamily="18" charset="0"/>
                <a:cs typeface="Times New Roman" panose="02020603050405020304" pitchFamily="18" charset="0"/>
              </a:rPr>
              <a:t>metaanalysis</a:t>
            </a:r>
            <a:r>
              <a:rPr lang="en-US" sz="2400" dirty="0">
                <a:solidFill>
                  <a:srgbClr val="000000"/>
                </a:solidFill>
                <a:latin typeface="Times New Roman" panose="02020603050405020304" pitchFamily="18" charset="0"/>
                <a:cs typeface="Times New Roman" panose="02020603050405020304" pitchFamily="18" charset="0"/>
              </a:rPr>
              <a:t>,’’ Inf. </a:t>
            </a:r>
            <a:r>
              <a:rPr lang="en-US" sz="2400" dirty="0" err="1">
                <a:solidFill>
                  <a:srgbClr val="000000"/>
                </a:solidFill>
                <a:latin typeface="Times New Roman" panose="02020603050405020304" pitchFamily="18" charset="0"/>
                <a:cs typeface="Times New Roman" panose="02020603050405020304" pitchFamily="18" charset="0"/>
              </a:rPr>
              <a:t>Softw</a:t>
            </a:r>
            <a:r>
              <a:rPr lang="en-US" sz="2400" dirty="0">
                <a:solidFill>
                  <a:srgbClr val="000000"/>
                </a:solidFill>
                <a:latin typeface="Times New Roman" panose="02020603050405020304" pitchFamily="18" charset="0"/>
                <a:cs typeface="Times New Roman" panose="02020603050405020304" pitchFamily="18" charset="0"/>
              </a:rPr>
              <a:t>. Technol., vol. 158, Jun. 2023, Art. no. 107175, </a:t>
            </a:r>
            <a:r>
              <a:rPr lang="en-US" sz="2400" dirty="0" err="1">
                <a:solidFill>
                  <a:srgbClr val="000000"/>
                </a:solidFill>
                <a:latin typeface="Times New Roman" panose="02020603050405020304" pitchFamily="18" charset="0"/>
                <a:cs typeface="Times New Roman" panose="02020603050405020304" pitchFamily="18" charset="0"/>
              </a:rPr>
              <a:t>doi</a:t>
            </a:r>
            <a:r>
              <a:rPr lang="en-US" sz="2400" dirty="0">
                <a:solidFill>
                  <a:srgbClr val="000000"/>
                </a:solidFill>
                <a:latin typeface="Times New Roman" panose="02020603050405020304" pitchFamily="18" charset="0"/>
                <a:cs typeface="Times New Roman" panose="02020603050405020304" pitchFamily="18" charset="0"/>
              </a:rPr>
              <a:t>: 10.1016/j.infsof.2023.107175. </a:t>
            </a:r>
          </a:p>
          <a:p>
            <a:pPr marL="0" indent="0" algn="just">
              <a:lnSpc>
                <a:spcPct val="150000"/>
              </a:lnSpc>
              <a:buNone/>
            </a:pPr>
            <a:r>
              <a:rPr lang="en-US" sz="2400" dirty="0">
                <a:solidFill>
                  <a:srgbClr val="000000"/>
                </a:solidFill>
                <a:latin typeface="Times New Roman" panose="02020603050405020304" pitchFamily="18" charset="0"/>
                <a:cs typeface="Times New Roman" panose="02020603050405020304" pitchFamily="18" charset="0"/>
              </a:rPr>
              <a:t>[3] S. </a:t>
            </a:r>
            <a:r>
              <a:rPr lang="en-US" sz="2400" dirty="0" err="1">
                <a:solidFill>
                  <a:srgbClr val="000000"/>
                </a:solidFill>
                <a:latin typeface="Times New Roman" panose="02020603050405020304" pitchFamily="18" charset="0"/>
                <a:cs typeface="Times New Roman" panose="02020603050405020304" pitchFamily="18" charset="0"/>
              </a:rPr>
              <a:t>Aftab</a:t>
            </a:r>
            <a:r>
              <a:rPr lang="en-US" sz="2400" dirty="0">
                <a:solidFill>
                  <a:srgbClr val="000000"/>
                </a:solidFill>
                <a:latin typeface="Times New Roman" panose="02020603050405020304" pitchFamily="18" charset="0"/>
                <a:cs typeface="Times New Roman" panose="02020603050405020304" pitchFamily="18" charset="0"/>
              </a:rPr>
              <a:t>, S. Abbas, T. M. Ghazal, M. Ahmad, H. A. </a:t>
            </a:r>
            <a:r>
              <a:rPr lang="en-US" sz="2400" dirty="0" err="1">
                <a:solidFill>
                  <a:srgbClr val="000000"/>
                </a:solidFill>
                <a:latin typeface="Times New Roman" panose="02020603050405020304" pitchFamily="18" charset="0"/>
                <a:cs typeface="Times New Roman" panose="02020603050405020304" pitchFamily="18" charset="0"/>
              </a:rPr>
              <a:t>Hamadi</a:t>
            </a:r>
            <a:r>
              <a:rPr lang="en-US" sz="2400" dirty="0">
                <a:solidFill>
                  <a:srgbClr val="000000"/>
                </a:solidFill>
                <a:latin typeface="Times New Roman" panose="02020603050405020304" pitchFamily="18" charset="0"/>
                <a:cs typeface="Times New Roman" panose="02020603050405020304" pitchFamily="18" charset="0"/>
              </a:rPr>
              <a:t>, C. Y. </a:t>
            </a:r>
            <a:r>
              <a:rPr lang="en-US" sz="2400" dirty="0" err="1">
                <a:solidFill>
                  <a:srgbClr val="000000"/>
                </a:solidFill>
                <a:latin typeface="Times New Roman" panose="02020603050405020304" pitchFamily="18" charset="0"/>
                <a:cs typeface="Times New Roman" panose="02020603050405020304" pitchFamily="18" charset="0"/>
              </a:rPr>
              <a:t>Yeun</a:t>
            </a:r>
            <a:r>
              <a:rPr lang="en-US" sz="2400" dirty="0">
                <a:solidFill>
                  <a:srgbClr val="000000"/>
                </a:solidFill>
                <a:latin typeface="Times New Roman" panose="02020603050405020304" pitchFamily="18" charset="0"/>
                <a:cs typeface="Times New Roman" panose="02020603050405020304" pitchFamily="18" charset="0"/>
              </a:rPr>
              <a:t>, and M. A. Khan, ‘‘A cloud-based software defect prediction system using data and decision-level machine learning fusion,’’ Mathematics, vol. 11, no. 3, p. 632, Jan. 2023, </a:t>
            </a:r>
            <a:r>
              <a:rPr lang="en-US" sz="2400" dirty="0" err="1">
                <a:solidFill>
                  <a:srgbClr val="000000"/>
                </a:solidFill>
                <a:latin typeface="Times New Roman" panose="02020603050405020304" pitchFamily="18" charset="0"/>
                <a:cs typeface="Times New Roman" panose="02020603050405020304" pitchFamily="18" charset="0"/>
              </a:rPr>
              <a:t>doi</a:t>
            </a:r>
            <a:r>
              <a:rPr lang="en-US" sz="2400" dirty="0">
                <a:solidFill>
                  <a:srgbClr val="000000"/>
                </a:solidFill>
                <a:latin typeface="Times New Roman" panose="02020603050405020304" pitchFamily="18" charset="0"/>
                <a:cs typeface="Times New Roman" panose="02020603050405020304" pitchFamily="18" charset="0"/>
              </a:rPr>
              <a:t>: 10.3390/math11030632.</a:t>
            </a:r>
          </a:p>
          <a:p>
            <a:pPr marL="0" indent="0" algn="just">
              <a:lnSpc>
                <a:spcPct val="150000"/>
              </a:lnSpc>
              <a:buNone/>
            </a:pPr>
            <a:r>
              <a:rPr lang="en-US" sz="2400" dirty="0">
                <a:solidFill>
                  <a:srgbClr val="000000"/>
                </a:solidFill>
                <a:latin typeface="Times New Roman" panose="02020603050405020304" pitchFamily="18" charset="0"/>
                <a:cs typeface="Times New Roman" panose="02020603050405020304" pitchFamily="18" charset="0"/>
              </a:rPr>
              <a:t>[4] Y. Tang, Q. Dai, M. Yang, T. Du, and L. Chen, ‘‘Software defect prediction ensemble learning algorithm based on adaptive variable sparrow search algorithm,’’ Int. J. Mach. Learn. </a:t>
            </a:r>
            <a:r>
              <a:rPr lang="en-US" sz="2400" dirty="0" err="1">
                <a:solidFill>
                  <a:srgbClr val="000000"/>
                </a:solidFill>
                <a:latin typeface="Times New Roman" panose="02020603050405020304" pitchFamily="18" charset="0"/>
                <a:cs typeface="Times New Roman" panose="02020603050405020304" pitchFamily="18" charset="0"/>
              </a:rPr>
              <a:t>Cybern</a:t>
            </a:r>
            <a:r>
              <a:rPr lang="en-US" sz="2400" dirty="0">
                <a:solidFill>
                  <a:srgbClr val="000000"/>
                </a:solidFill>
                <a:latin typeface="Times New Roman" panose="02020603050405020304" pitchFamily="18" charset="0"/>
                <a:cs typeface="Times New Roman" panose="02020603050405020304" pitchFamily="18" charset="0"/>
              </a:rPr>
              <a:t>., vol. 14, no. 6, pp. 1967–1987, Jan. 2023, </a:t>
            </a:r>
            <a:r>
              <a:rPr lang="en-US" sz="2400" dirty="0" err="1">
                <a:solidFill>
                  <a:srgbClr val="000000"/>
                </a:solidFill>
                <a:latin typeface="Times New Roman" panose="02020603050405020304" pitchFamily="18" charset="0"/>
                <a:cs typeface="Times New Roman" panose="02020603050405020304" pitchFamily="18" charset="0"/>
              </a:rPr>
              <a:t>doi</a:t>
            </a:r>
            <a:r>
              <a:rPr lang="en-US" sz="2400" dirty="0">
                <a:solidFill>
                  <a:srgbClr val="000000"/>
                </a:solidFill>
                <a:latin typeface="Times New Roman" panose="02020603050405020304" pitchFamily="18" charset="0"/>
                <a:cs typeface="Times New Roman" panose="02020603050405020304" pitchFamily="18" charset="0"/>
              </a:rPr>
              <a:t>: 10.1007/s13042-022-01740-2. </a:t>
            </a:r>
          </a:p>
          <a:p>
            <a:pPr marL="0" indent="0" algn="just">
              <a:lnSpc>
                <a:spcPct val="150000"/>
              </a:lnSpc>
              <a:buNone/>
            </a:pPr>
            <a:r>
              <a:rPr lang="en-US" sz="2400" dirty="0">
                <a:solidFill>
                  <a:srgbClr val="000000"/>
                </a:solidFill>
                <a:latin typeface="Times New Roman" panose="02020603050405020304" pitchFamily="18" charset="0"/>
                <a:cs typeface="Times New Roman" panose="02020603050405020304" pitchFamily="18" charset="0"/>
              </a:rPr>
              <a:t>[5] S. </a:t>
            </a:r>
            <a:r>
              <a:rPr lang="en-US" sz="2400" dirty="0" err="1">
                <a:solidFill>
                  <a:srgbClr val="000000"/>
                </a:solidFill>
                <a:latin typeface="Times New Roman" panose="02020603050405020304" pitchFamily="18" charset="0"/>
                <a:cs typeface="Times New Roman" panose="02020603050405020304" pitchFamily="18" charset="0"/>
              </a:rPr>
              <a:t>Goyal</a:t>
            </a:r>
            <a:r>
              <a:rPr lang="en-US" sz="2400" dirty="0">
                <a:solidFill>
                  <a:srgbClr val="000000"/>
                </a:solidFill>
                <a:latin typeface="Times New Roman" panose="02020603050405020304" pitchFamily="18" charset="0"/>
                <a:cs typeface="Times New Roman" panose="02020603050405020304" pitchFamily="18" charset="0"/>
              </a:rPr>
              <a:t>, ‘‘3PcGE: 3-parent child-based genetic evolution for software defect prediction,’’ </a:t>
            </a:r>
            <a:r>
              <a:rPr lang="en-US" sz="2400" dirty="0" err="1">
                <a:solidFill>
                  <a:srgbClr val="000000"/>
                </a:solidFill>
                <a:latin typeface="Times New Roman" panose="02020603050405020304" pitchFamily="18" charset="0"/>
                <a:cs typeface="Times New Roman" panose="02020603050405020304" pitchFamily="18" charset="0"/>
              </a:rPr>
              <a:t>Innov</a:t>
            </a:r>
            <a:r>
              <a:rPr lang="en-US" sz="2400" dirty="0">
                <a:solidFill>
                  <a:srgbClr val="000000"/>
                </a:solidFill>
                <a:latin typeface="Times New Roman" panose="02020603050405020304" pitchFamily="18" charset="0"/>
                <a:cs typeface="Times New Roman" panose="02020603050405020304" pitchFamily="18" charset="0"/>
              </a:rPr>
              <a:t>. Syst. </a:t>
            </a:r>
            <a:r>
              <a:rPr lang="en-US" sz="2400" dirty="0" err="1">
                <a:solidFill>
                  <a:srgbClr val="000000"/>
                </a:solidFill>
                <a:latin typeface="Times New Roman" panose="02020603050405020304" pitchFamily="18" charset="0"/>
                <a:cs typeface="Times New Roman" panose="02020603050405020304" pitchFamily="18" charset="0"/>
              </a:rPr>
              <a:t>Softw</a:t>
            </a:r>
            <a:r>
              <a:rPr lang="en-US" sz="2400" dirty="0">
                <a:solidFill>
                  <a:srgbClr val="000000"/>
                </a:solidFill>
                <a:latin typeface="Times New Roman" panose="02020603050405020304" pitchFamily="18" charset="0"/>
                <a:cs typeface="Times New Roman" panose="02020603050405020304" pitchFamily="18" charset="0"/>
              </a:rPr>
              <a:t>. Eng., vol. 19, no. 2, pp. 197–216, Jun. 2023, </a:t>
            </a:r>
            <a:r>
              <a:rPr lang="en-US" sz="2400" dirty="0" err="1">
                <a:solidFill>
                  <a:srgbClr val="000000"/>
                </a:solidFill>
                <a:latin typeface="Times New Roman" panose="02020603050405020304" pitchFamily="18" charset="0"/>
                <a:cs typeface="Times New Roman" panose="02020603050405020304" pitchFamily="18" charset="0"/>
              </a:rPr>
              <a:t>doi</a:t>
            </a:r>
            <a:r>
              <a:rPr lang="en-US" sz="2400" dirty="0">
                <a:solidFill>
                  <a:srgbClr val="000000"/>
                </a:solidFill>
                <a:latin typeface="Times New Roman" panose="02020603050405020304" pitchFamily="18" charset="0"/>
                <a:cs typeface="Times New Roman" panose="02020603050405020304" pitchFamily="18" charset="0"/>
              </a:rPr>
              <a:t>: 10.1007/s11334-021-00427-1. </a:t>
            </a:r>
          </a:p>
        </p:txBody>
      </p:sp>
      <p:sp>
        <p:nvSpPr>
          <p:cNvPr id="4" name="Title 1"/>
          <p:cNvSpPr>
            <a:spLocks noGrp="1"/>
          </p:cNvSpPr>
          <p:nvPr>
            <p:ph type="title"/>
          </p:nvPr>
        </p:nvSpPr>
        <p:spPr/>
        <p:txBody>
          <a:bodyPr>
            <a:normAutofit/>
          </a:bodyPr>
          <a:lstStyle/>
          <a:p>
            <a:pPr algn="ctr"/>
            <a:r>
              <a:rPr lang="en-US" sz="7200" b="1" dirty="0">
                <a:solidFill>
                  <a:srgbClr val="000000"/>
                </a:solidFill>
                <a:latin typeface="Times New Roman" panose="02020603050405020304" pitchFamily="18" charset="0"/>
                <a:cs typeface="Times New Roman" panose="02020603050405020304" pitchFamily="18" charset="0"/>
              </a:rPr>
              <a:t>REFERENCES</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s>
</file>

<file path=ppt/theme/theme1.xml><?xml version="1.0" encoding="utf-8"?>
<a:theme xmlns:a="http://schemas.openxmlformats.org/drawingml/2006/main" name="Median">
  <a:themeElements>
    <a:clrScheme name="Custom 117">
      <a:dk1>
        <a:sysClr val="windowText" lastClr="000000"/>
      </a:dk1>
      <a:lt1>
        <a:sysClr val="window" lastClr="FFFFFF"/>
      </a:lt1>
      <a:dk2>
        <a:srgbClr val="775F55"/>
      </a:dk2>
      <a:lt2>
        <a:srgbClr val="EBDDC3"/>
      </a:lt2>
      <a:accent1>
        <a:srgbClr val="555A3C"/>
      </a:accent1>
      <a:accent2>
        <a:srgbClr val="555A3C"/>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Median</Template>
  <TotalTime>173</TotalTime>
  <Words>2984</Words>
  <Application>Microsoft Office PowerPoint</Application>
  <PresentationFormat>Custom</PresentationFormat>
  <Paragraphs>169</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Calibri</vt:lpstr>
      <vt:lpstr>Times New Roman</vt:lpstr>
      <vt:lpstr>Tw Cen MT</vt:lpstr>
      <vt:lpstr>Wingdings</vt:lpstr>
      <vt:lpstr>Wingdings 2</vt:lpstr>
      <vt:lpstr>Median</vt:lpstr>
      <vt:lpstr>Software Defect Prediction Using an Intelligent Ensemble-Based Model</vt:lpstr>
      <vt:lpstr>ABSTRACT </vt:lpstr>
      <vt:lpstr>INTRODUCTION</vt:lpstr>
      <vt:lpstr>OBJECTIVE</vt:lpstr>
      <vt:lpstr>PROBLEM STATEMENT</vt:lpstr>
      <vt:lpstr>LITERATURE SURVEY</vt:lpstr>
      <vt:lpstr>LITERATURE SURVEY</vt:lpstr>
      <vt:lpstr>LITERATURE SURVEY</vt:lpstr>
      <vt:lpstr>LITERATURE SURVEY</vt:lpstr>
      <vt:lpstr>LITERATURE SURVEY</vt:lpstr>
      <vt:lpstr>EXISTING SYSTEM </vt:lpstr>
      <vt:lpstr>DRAWBACKS OF EXISTING SYSTEM </vt:lpstr>
      <vt:lpstr>PROPOSED SYSTEM </vt:lpstr>
      <vt:lpstr>BENEFITS OF PROPOSED SYSTEM </vt:lpstr>
      <vt:lpstr>EXTENSION </vt:lpstr>
      <vt:lpstr>SOFTWARE AND HARDWARE REQUIREMENTS</vt:lpstr>
      <vt:lpstr>SYSTEM ARCHITECTURE</vt:lpstr>
      <vt:lpstr>CONCLUSION</vt:lpstr>
      <vt:lpstr>FUTURE SCOPE</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Fraud Detection in Banking Data by Machine Learning Techniques</dc:title>
  <dc:creator>TruProjects</dc:creator>
  <cp:lastModifiedBy>Rathod Ankush</cp:lastModifiedBy>
  <cp:revision>99</cp:revision>
  <dcterms:created xsi:type="dcterms:W3CDTF">2023-10-02T12:34:00Z</dcterms:created>
  <dcterms:modified xsi:type="dcterms:W3CDTF">2025-12-18T10:58:50Z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FF80C8D8122D48D7BCDCFA4B11F1D707_13</vt:lpwstr>
  </property>
  <property fmtid="{D5CDD505-2E9C-101B-9397-08002B2CF9AE}" pid="3" name="KSOProductBuildVer">
    <vt:lpwstr>1033-12.2.0.13431</vt:lpwstr>
  </property>
</Properties>
</file>